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9"/>
  </p:notesMasterIdLst>
  <p:sldIdLst>
    <p:sldId id="256" r:id="rId2"/>
    <p:sldId id="674" r:id="rId3"/>
    <p:sldId id="257" r:id="rId4"/>
    <p:sldId id="715" r:id="rId5"/>
    <p:sldId id="260" r:id="rId6"/>
    <p:sldId id="716" r:id="rId7"/>
    <p:sldId id="717" r:id="rId8"/>
    <p:sldId id="718" r:id="rId9"/>
    <p:sldId id="719" r:id="rId10"/>
    <p:sldId id="720" r:id="rId11"/>
    <p:sldId id="721" r:id="rId12"/>
    <p:sldId id="722" r:id="rId13"/>
    <p:sldId id="723" r:id="rId14"/>
    <p:sldId id="724" r:id="rId15"/>
    <p:sldId id="725" r:id="rId16"/>
    <p:sldId id="726" r:id="rId17"/>
    <p:sldId id="30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6" userDrawn="1">
          <p15:clr>
            <a:srgbClr val="A4A3A4"/>
          </p15:clr>
        </p15:guide>
        <p15:guide id="2" orient="horz" pos="799" userDrawn="1">
          <p15:clr>
            <a:srgbClr val="A4A3A4"/>
          </p15:clr>
        </p15:guide>
        <p15:guide id="3" orient="horz" pos="1026" userDrawn="1">
          <p15:clr>
            <a:srgbClr val="A4A3A4"/>
          </p15:clr>
        </p15:guide>
        <p15:guide id="4" pos="438" userDrawn="1">
          <p15:clr>
            <a:srgbClr val="A4A3A4"/>
          </p15:clr>
        </p15:guide>
        <p15:guide id="5" pos="7242" userDrawn="1">
          <p15:clr>
            <a:srgbClr val="A4A3A4"/>
          </p15:clr>
        </p15:guide>
        <p15:guide id="6" orient="horz"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1A3E"/>
    <a:srgbClr val="51546F"/>
    <a:srgbClr val="333F50"/>
    <a:srgbClr val="8497B0"/>
    <a:srgbClr val="8FAADC"/>
    <a:srgbClr val="2F5597"/>
    <a:srgbClr val="626CC7"/>
    <a:srgbClr val="323B8D"/>
    <a:srgbClr val="21275D"/>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15" autoAdjust="0"/>
    <p:restoredTop sz="93447" autoAdjust="0"/>
  </p:normalViewPr>
  <p:slideViewPr>
    <p:cSldViewPr snapToGrid="0">
      <p:cViewPr varScale="1">
        <p:scale>
          <a:sx n="96" d="100"/>
          <a:sy n="96" d="100"/>
        </p:scale>
        <p:origin x="606" y="84"/>
      </p:cViewPr>
      <p:guideLst>
        <p:guide orient="horz" pos="346"/>
        <p:guide orient="horz" pos="799"/>
        <p:guide orient="horz" pos="1026"/>
        <p:guide pos="438"/>
        <p:guide pos="7242"/>
        <p:guide orient="horz" pos="3838"/>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21-11-2025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531800" y="89584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solidFill>
                <a:srgbClr val="161A3E"/>
              </a:solidFill>
            </a:endParaRPr>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solidFill>
                <a:srgbClr val="161A3E"/>
              </a:solidFill>
            </a:endParaRPr>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solidFill>
                <a:srgbClr val="161A3E"/>
              </a:solidFill>
            </a:endParaRPr>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1659835"/>
            <a:ext cx="7057847"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5" name="Title 1">
            <a:extLst>
              <a:ext uri="{FF2B5EF4-FFF2-40B4-BE49-F238E27FC236}">
                <a16:creationId xmlns:a16="http://schemas.microsoft.com/office/drawing/2014/main" id="{F169BDF6-EA32-8D15-7297-96F5B8F6EF09}"/>
              </a:ext>
            </a:extLst>
          </p:cNvPr>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5999928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solidFill>
                <a:srgbClr val="161A3E"/>
              </a:solidFill>
            </a:endParaRP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
        <p:nvSpPr>
          <p:cNvPr id="5" name="Title 1">
            <a:extLst>
              <a:ext uri="{FF2B5EF4-FFF2-40B4-BE49-F238E27FC236}">
                <a16:creationId xmlns:a16="http://schemas.microsoft.com/office/drawing/2014/main" id="{8AA7827E-D2A7-AA00-8D40-7B76E978D014}"/>
              </a:ext>
            </a:extLst>
          </p:cNvPr>
          <p:cNvSpPr>
            <a:spLocks noGrp="1"/>
          </p:cNvSpPr>
          <p:nvPr>
            <p:ph type="title"/>
          </p:nvPr>
        </p:nvSpPr>
        <p:spPr>
          <a:xfrm>
            <a:off x="838202" y="2049670"/>
            <a:ext cx="2743200" cy="2562226"/>
          </a:xfrm>
        </p:spPr>
        <p:txBody>
          <a:bodyPr/>
          <a:lstStyle>
            <a:lvl1pPr>
              <a:defRPr>
                <a:solidFill>
                  <a:srgbClr val="161A3E"/>
                </a:solidFill>
              </a:defRPr>
            </a:lvl1pPr>
          </a:lstStyle>
          <a:p>
            <a:r>
              <a:rPr lang="en-US" dirty="0"/>
              <a:t>Click to edit Master title style</a:t>
            </a:r>
          </a:p>
        </p:txBody>
      </p:sp>
    </p:spTree>
    <p:extLst>
      <p:ext uri="{BB962C8B-B14F-4D97-AF65-F5344CB8AC3E}">
        <p14:creationId xmlns:p14="http://schemas.microsoft.com/office/powerpoint/2010/main" val="6455390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61A3E"/>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solidFill>
                <a:srgbClr val="161A3E"/>
              </a:solidFill>
            </a:endParaRPr>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solidFill>
                  <a:srgbClr val="161A3E"/>
                </a:solidFill>
              </a:defRPr>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rgbClr val="161A3E"/>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lvl1pPr>
              <a:defRPr>
                <a:solidFill>
                  <a:srgbClr val="161A3E"/>
                </a:solidFill>
              </a:defRPr>
            </a:lvl1p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solidFill>
                  <a:srgbClr val="161A3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solidFill>
                  <a:srgbClr val="161A3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lvl1pPr>
              <a:defRPr>
                <a:solidFill>
                  <a:srgbClr val="161A3E"/>
                </a:solidFill>
              </a:defRPr>
            </a:lvl1p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rgbClr val="161A3E"/>
                </a:solidFill>
              </a:defRPr>
            </a:lvl1pPr>
            <a:lvl2pPr>
              <a:defRPr sz="2800">
                <a:solidFill>
                  <a:srgbClr val="161A3E"/>
                </a:solidFill>
              </a:defRPr>
            </a:lvl2pPr>
            <a:lvl3pPr>
              <a:defRPr sz="2400">
                <a:solidFill>
                  <a:srgbClr val="161A3E"/>
                </a:solidFill>
              </a:defRPr>
            </a:lvl3pPr>
            <a:lvl4pPr>
              <a:defRPr sz="2000">
                <a:solidFill>
                  <a:srgbClr val="161A3E"/>
                </a:solidFill>
              </a:defRPr>
            </a:lvl4pPr>
            <a:lvl5pPr>
              <a:defRPr sz="2000">
                <a:solidFill>
                  <a:srgbClr val="161A3E"/>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solidFill>
                  <a:srgbClr val="161A3E"/>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lvl1pPr>
              <a:defRPr>
                <a:solidFill>
                  <a:srgbClr val="161A3E"/>
                </a:solidFill>
              </a:defRPr>
            </a:lvl1p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695325" y="1628775"/>
            <a:ext cx="10801350" cy="44640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400" dirty="0">
              <a:solidFill>
                <a:srgbClr val="FFFFFF"/>
              </a:solidFill>
            </a:endParaRPr>
          </a:p>
        </p:txBody>
      </p:sp>
      <p:sp>
        <p:nvSpPr>
          <p:cNvPr id="4" name="TextBox 3">
            <a:extLst>
              <a:ext uri="{FF2B5EF4-FFF2-40B4-BE49-F238E27FC236}">
                <a16:creationId xmlns:a16="http://schemas.microsoft.com/office/drawing/2014/main" id="{9CBCB331-4C6F-D2AD-33D4-2AD31FC1B404}"/>
              </a:ext>
            </a:extLst>
          </p:cNvPr>
          <p:cNvSpPr txBox="1"/>
          <p:nvPr/>
        </p:nvSpPr>
        <p:spPr>
          <a:xfrm>
            <a:off x="695325" y="2618510"/>
            <a:ext cx="10801350" cy="2123658"/>
          </a:xfrm>
          <a:prstGeom prst="rect">
            <a:avLst/>
          </a:prstGeom>
          <a:noFill/>
        </p:spPr>
        <p:txBody>
          <a:bodyPr wrap="square">
            <a:spAutoFit/>
          </a:bodyPr>
          <a:lstStyle/>
          <a:p>
            <a:pPr algn="ctr"/>
            <a:r>
              <a:rPr lang="en-IN" sz="6600" dirty="0">
                <a:solidFill>
                  <a:schemeClr val="bg1"/>
                </a:solidFill>
              </a:rPr>
              <a:t>MCP :Containerization &amp; Connection</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705716" y="559666"/>
            <a:ext cx="10790959" cy="708747"/>
          </a:xfrm>
        </p:spPr>
        <p:txBody>
          <a:bodyPr/>
          <a:lstStyle/>
          <a:p>
            <a:r>
              <a:rPr lang="en-IN" dirty="0"/>
              <a:t>Agenda</a:t>
            </a: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705715" y="1639166"/>
            <a:ext cx="10790959" cy="4453659"/>
          </a:xfrm>
          <a:prstGeom prst="rect">
            <a:avLst/>
          </a:prstGeom>
        </p:spPr>
        <p:txBody>
          <a:bodyPr>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IN" sz="2400" dirty="0"/>
              <a:t>Technical Terms and System Capabilities</a:t>
            </a:r>
          </a:p>
          <a:p>
            <a:pPr lvl="0"/>
            <a:r>
              <a:rPr lang="en-IN" sz="2400" dirty="0"/>
              <a:t>Key Benefits of MCP</a:t>
            </a:r>
          </a:p>
          <a:p>
            <a:pPr lvl="0"/>
            <a:r>
              <a:rPr lang="en-IN" sz="2400" dirty="0"/>
              <a:t>Limitations and Industry Challenges</a:t>
            </a:r>
          </a:p>
          <a:p>
            <a:pPr lvl="0"/>
            <a:r>
              <a:rPr lang="en-IN" sz="2400" dirty="0"/>
              <a:t>Real-World Use Cases</a:t>
            </a:r>
          </a:p>
          <a:p>
            <a:pPr lvl="0"/>
            <a:r>
              <a:rPr lang="en-IN" sz="2400" dirty="0"/>
              <a:t>Technical Illustration of Server Example</a:t>
            </a:r>
          </a:p>
          <a:p>
            <a:pPr lvl="0"/>
            <a:r>
              <a:rPr lang="en-IN" sz="2400" dirty="0"/>
              <a:t>Future Outlook &amp; Resources</a:t>
            </a:r>
          </a:p>
        </p:txBody>
      </p:sp>
    </p:spTree>
    <p:extLst>
      <p:ext uri="{BB962C8B-B14F-4D97-AF65-F5344CB8AC3E}">
        <p14:creationId xmlns:p14="http://schemas.microsoft.com/office/powerpoint/2010/main" val="2272459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6B442-A52E-DA14-31A3-647D63F5D390}"/>
              </a:ext>
            </a:extLst>
          </p:cNvPr>
          <p:cNvSpPr>
            <a:spLocks noGrp="1"/>
          </p:cNvSpPr>
          <p:nvPr>
            <p:ph type="title"/>
          </p:nvPr>
        </p:nvSpPr>
        <p:spPr>
          <a:xfrm>
            <a:off x="705716" y="559667"/>
            <a:ext cx="10790960" cy="708746"/>
          </a:xfrm>
        </p:spPr>
        <p:txBody>
          <a:bodyPr>
            <a:normAutofit/>
          </a:bodyPr>
          <a:lstStyle/>
          <a:p>
            <a:r>
              <a:rPr lang="en-IN" dirty="0"/>
              <a:t>Technical Terms and System Capabilities</a:t>
            </a:r>
            <a:endParaRPr lang="en-US" dirty="0"/>
          </a:p>
        </p:txBody>
      </p:sp>
      <p:sp>
        <p:nvSpPr>
          <p:cNvPr id="3" name="Content Placeholder 2">
            <a:extLst>
              <a:ext uri="{FF2B5EF4-FFF2-40B4-BE49-F238E27FC236}">
                <a16:creationId xmlns:a16="http://schemas.microsoft.com/office/drawing/2014/main" id="{6E74D6FE-6E8E-C9E8-E2FA-6CD698A4E50E}"/>
              </a:ext>
            </a:extLst>
          </p:cNvPr>
          <p:cNvSpPr>
            <a:spLocks noGrp="1"/>
          </p:cNvSpPr>
          <p:nvPr>
            <p:ph idx="1"/>
          </p:nvPr>
        </p:nvSpPr>
        <p:spPr>
          <a:xfrm>
            <a:off x="705716" y="1639166"/>
            <a:ext cx="10790960" cy="4453659"/>
          </a:xfrm>
        </p:spPr>
        <p:txBody>
          <a:bodyPr>
            <a:normAutofit/>
          </a:bodyPr>
          <a:lstStyle/>
          <a:p>
            <a:pPr marL="0" indent="0">
              <a:lnSpc>
                <a:spcPct val="150000"/>
              </a:lnSpc>
              <a:buNone/>
            </a:pPr>
            <a:r>
              <a:rPr lang="en-IN" sz="2400" dirty="0"/>
              <a:t>Tools: Executable actions (API calls, database queries)</a:t>
            </a:r>
            <a:endParaRPr lang="en-US" sz="2400" dirty="0"/>
          </a:p>
          <a:p>
            <a:pPr marL="0" indent="0">
              <a:lnSpc>
                <a:spcPct val="150000"/>
              </a:lnSpc>
              <a:buNone/>
            </a:pPr>
            <a:r>
              <a:rPr lang="en-IN" sz="2400" dirty="0"/>
              <a:t>Resources: Data files, context objects</a:t>
            </a:r>
            <a:endParaRPr lang="en-US" sz="2400" dirty="0"/>
          </a:p>
          <a:p>
            <a:pPr marL="0" indent="0">
              <a:lnSpc>
                <a:spcPct val="150000"/>
              </a:lnSpc>
              <a:buNone/>
            </a:pPr>
            <a:r>
              <a:rPr lang="en-IN" sz="2400" dirty="0"/>
              <a:t>Prompts: Structured task templates for LLMs</a:t>
            </a:r>
            <a:endParaRPr lang="en-US" sz="2400" dirty="0"/>
          </a:p>
          <a:p>
            <a:pPr marL="0" indent="0">
              <a:lnSpc>
                <a:spcPct val="150000"/>
              </a:lnSpc>
              <a:buNone/>
            </a:pPr>
            <a:r>
              <a:rPr lang="en-IN" sz="2400" dirty="0"/>
              <a:t>Life-cycle management: Session initiation, connection teardown</a:t>
            </a:r>
            <a:endParaRPr lang="en-US" sz="2400" dirty="0"/>
          </a:p>
          <a:p>
            <a:pPr marL="0" indent="0">
              <a:lnSpc>
                <a:spcPct val="150000"/>
              </a:lnSpc>
              <a:buNone/>
            </a:pPr>
            <a:r>
              <a:rPr lang="en-IN" sz="2400" dirty="0"/>
              <a:t>Subscription management: Real-time notifications when resources change.</a:t>
            </a:r>
            <a:endParaRPr lang="en-US" sz="2400" dirty="0"/>
          </a:p>
        </p:txBody>
      </p:sp>
    </p:spTree>
    <p:extLst>
      <p:ext uri="{BB962C8B-B14F-4D97-AF65-F5344CB8AC3E}">
        <p14:creationId xmlns:p14="http://schemas.microsoft.com/office/powerpoint/2010/main" val="2494825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6D5EA-AD73-FAED-BC91-84FF967E0F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B6F38-2725-AE55-1E2D-10AD96E920DC}"/>
              </a:ext>
            </a:extLst>
          </p:cNvPr>
          <p:cNvSpPr>
            <a:spLocks noGrp="1"/>
          </p:cNvSpPr>
          <p:nvPr>
            <p:ph type="title"/>
          </p:nvPr>
        </p:nvSpPr>
        <p:spPr>
          <a:xfrm>
            <a:off x="705716" y="559667"/>
            <a:ext cx="10790960" cy="708746"/>
          </a:xfrm>
        </p:spPr>
        <p:txBody>
          <a:bodyPr>
            <a:normAutofit/>
          </a:bodyPr>
          <a:lstStyle/>
          <a:p>
            <a:r>
              <a:rPr lang="en-IN" dirty="0"/>
              <a:t>Key Benefits of MCP</a:t>
            </a:r>
            <a:endParaRPr lang="en-US" dirty="0"/>
          </a:p>
        </p:txBody>
      </p:sp>
      <p:sp>
        <p:nvSpPr>
          <p:cNvPr id="3" name="Content Placeholder 2">
            <a:extLst>
              <a:ext uri="{FF2B5EF4-FFF2-40B4-BE49-F238E27FC236}">
                <a16:creationId xmlns:a16="http://schemas.microsoft.com/office/drawing/2014/main" id="{0D409875-20BB-21CB-676D-A99A907383FA}"/>
              </a:ext>
            </a:extLst>
          </p:cNvPr>
          <p:cNvSpPr>
            <a:spLocks noGrp="1"/>
          </p:cNvSpPr>
          <p:nvPr>
            <p:ph idx="1"/>
          </p:nvPr>
        </p:nvSpPr>
        <p:spPr>
          <a:xfrm>
            <a:off x="705716" y="1639166"/>
            <a:ext cx="10790960" cy="4453659"/>
          </a:xfrm>
        </p:spPr>
        <p:txBody>
          <a:bodyPr>
            <a:normAutofit/>
          </a:bodyPr>
          <a:lstStyle/>
          <a:p>
            <a:pPr>
              <a:lnSpc>
                <a:spcPct val="150000"/>
              </a:lnSpc>
            </a:pPr>
            <a:r>
              <a:rPr lang="en-IN" sz="2400" dirty="0" err="1"/>
              <a:t>Statefulness</a:t>
            </a:r>
            <a:r>
              <a:rPr lang="en-IN" sz="2400" dirty="0"/>
              <a:t>: Maintains session/context for complex workflows.</a:t>
            </a:r>
          </a:p>
          <a:p>
            <a:pPr>
              <a:lnSpc>
                <a:spcPct val="150000"/>
              </a:lnSpc>
            </a:pPr>
            <a:r>
              <a:rPr lang="en-IN" sz="2400" dirty="0"/>
              <a:t>Flexibility: Adapts to available tools/resources.</a:t>
            </a:r>
            <a:endParaRPr lang="en-US" sz="2400" dirty="0"/>
          </a:p>
          <a:p>
            <a:pPr>
              <a:lnSpc>
                <a:spcPct val="150000"/>
              </a:lnSpc>
            </a:pPr>
            <a:r>
              <a:rPr lang="en-IN" sz="2400" dirty="0"/>
              <a:t>Security: Isolates each client-server connection, manages permissions centrally.</a:t>
            </a:r>
            <a:endParaRPr lang="en-US" sz="2400" dirty="0"/>
          </a:p>
          <a:p>
            <a:pPr>
              <a:lnSpc>
                <a:spcPct val="150000"/>
              </a:lnSpc>
            </a:pPr>
            <a:r>
              <a:rPr lang="en-IN" sz="2400" dirty="0"/>
              <a:t>Developer Experience: Reduced integration code, universal adapter style.</a:t>
            </a:r>
            <a:endParaRPr lang="en-US" sz="2400" dirty="0"/>
          </a:p>
        </p:txBody>
      </p:sp>
    </p:spTree>
    <p:extLst>
      <p:ext uri="{BB962C8B-B14F-4D97-AF65-F5344CB8AC3E}">
        <p14:creationId xmlns:p14="http://schemas.microsoft.com/office/powerpoint/2010/main" val="333768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E55C3-BCF4-2BE9-0BA1-9480557F5622}"/>
              </a:ext>
            </a:extLst>
          </p:cNvPr>
          <p:cNvSpPr>
            <a:spLocks noGrp="1"/>
          </p:cNvSpPr>
          <p:nvPr>
            <p:ph type="title"/>
          </p:nvPr>
        </p:nvSpPr>
        <p:spPr>
          <a:xfrm>
            <a:off x="705716" y="559667"/>
            <a:ext cx="10790959" cy="708746"/>
          </a:xfrm>
        </p:spPr>
        <p:txBody>
          <a:bodyPr>
            <a:normAutofit/>
          </a:bodyPr>
          <a:lstStyle/>
          <a:p>
            <a:pPr lvl="0"/>
            <a:r>
              <a:rPr lang="en-IN" dirty="0"/>
              <a:t>Limitations and Industry Challenges</a:t>
            </a:r>
            <a:endParaRPr lang="en-US" dirty="0"/>
          </a:p>
        </p:txBody>
      </p:sp>
      <p:sp>
        <p:nvSpPr>
          <p:cNvPr id="3" name="Content Placeholder 2">
            <a:extLst>
              <a:ext uri="{FF2B5EF4-FFF2-40B4-BE49-F238E27FC236}">
                <a16:creationId xmlns:a16="http://schemas.microsoft.com/office/drawing/2014/main" id="{DE8666EA-E65A-5FA1-2E9D-AC91507646A6}"/>
              </a:ext>
            </a:extLst>
          </p:cNvPr>
          <p:cNvSpPr>
            <a:spLocks noGrp="1"/>
          </p:cNvSpPr>
          <p:nvPr>
            <p:ph idx="1"/>
          </p:nvPr>
        </p:nvSpPr>
        <p:spPr>
          <a:xfrm>
            <a:off x="705717" y="1639168"/>
            <a:ext cx="10790958" cy="4453658"/>
          </a:xfrm>
        </p:spPr>
        <p:txBody>
          <a:bodyPr>
            <a:normAutofit/>
          </a:bodyPr>
          <a:lstStyle/>
          <a:p>
            <a:pPr>
              <a:lnSpc>
                <a:spcPct val="150000"/>
              </a:lnSpc>
            </a:pPr>
            <a:r>
              <a:rPr lang="en-IN" sz="2400" dirty="0"/>
              <a:t>Security: Risk of exposing sensitive resources if server misconfigured.</a:t>
            </a:r>
            <a:endParaRPr lang="en-US" sz="2400" dirty="0"/>
          </a:p>
          <a:p>
            <a:pPr>
              <a:lnSpc>
                <a:spcPct val="150000"/>
              </a:lnSpc>
            </a:pPr>
            <a:r>
              <a:rPr lang="en-IN" sz="2400" dirty="0"/>
              <a:t>Data leakage: Controlled data injection into LLM prompts required.</a:t>
            </a:r>
            <a:endParaRPr lang="en-US" sz="2400" dirty="0"/>
          </a:p>
          <a:p>
            <a:pPr>
              <a:lnSpc>
                <a:spcPct val="150000"/>
              </a:lnSpc>
            </a:pPr>
            <a:r>
              <a:rPr lang="en-IN" sz="2400" dirty="0"/>
              <a:t>Standardization: Underlying protocol evolving, not yet uniformly adopted.</a:t>
            </a:r>
            <a:endParaRPr lang="en-US" sz="2400" dirty="0"/>
          </a:p>
          <a:p>
            <a:pPr>
              <a:lnSpc>
                <a:spcPct val="150000"/>
              </a:lnSpc>
            </a:pPr>
            <a:r>
              <a:rPr lang="en-IN" sz="2400" dirty="0"/>
              <a:t>Tool naming conventions: Avoiding hallucination, clear boundaries needed.</a:t>
            </a:r>
            <a:endParaRPr lang="en-US" sz="2400" dirty="0"/>
          </a:p>
        </p:txBody>
      </p:sp>
    </p:spTree>
    <p:extLst>
      <p:ext uri="{BB962C8B-B14F-4D97-AF65-F5344CB8AC3E}">
        <p14:creationId xmlns:p14="http://schemas.microsoft.com/office/powerpoint/2010/main" val="3464990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93CD9-69C4-912C-08B1-DCD20F424E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FCCF00-B812-9656-F6EE-7587005C077D}"/>
              </a:ext>
            </a:extLst>
          </p:cNvPr>
          <p:cNvSpPr>
            <a:spLocks noGrp="1"/>
          </p:cNvSpPr>
          <p:nvPr>
            <p:ph type="title"/>
          </p:nvPr>
        </p:nvSpPr>
        <p:spPr>
          <a:xfrm>
            <a:off x="705716" y="559667"/>
            <a:ext cx="10790959" cy="708746"/>
          </a:xfrm>
        </p:spPr>
        <p:txBody>
          <a:bodyPr>
            <a:normAutofit/>
          </a:bodyPr>
          <a:lstStyle/>
          <a:p>
            <a:pPr lvl="0"/>
            <a:r>
              <a:rPr lang="en-IN" dirty="0"/>
              <a:t>Real-World Use Cases</a:t>
            </a:r>
            <a:endParaRPr lang="en-US" dirty="0"/>
          </a:p>
        </p:txBody>
      </p:sp>
      <p:sp>
        <p:nvSpPr>
          <p:cNvPr id="3" name="Content Placeholder 2">
            <a:extLst>
              <a:ext uri="{FF2B5EF4-FFF2-40B4-BE49-F238E27FC236}">
                <a16:creationId xmlns:a16="http://schemas.microsoft.com/office/drawing/2014/main" id="{4127EF0C-014C-CDD6-3849-195BA8043244}"/>
              </a:ext>
            </a:extLst>
          </p:cNvPr>
          <p:cNvSpPr>
            <a:spLocks noGrp="1"/>
          </p:cNvSpPr>
          <p:nvPr>
            <p:ph idx="1"/>
          </p:nvPr>
        </p:nvSpPr>
        <p:spPr>
          <a:xfrm>
            <a:off x="705717" y="1639168"/>
            <a:ext cx="10790958" cy="4453658"/>
          </a:xfrm>
        </p:spPr>
        <p:txBody>
          <a:bodyPr>
            <a:normAutofit/>
          </a:bodyPr>
          <a:lstStyle/>
          <a:p>
            <a:pPr>
              <a:lnSpc>
                <a:spcPct val="150000"/>
              </a:lnSpc>
            </a:pPr>
            <a:r>
              <a:rPr lang="en-IN" sz="2400" dirty="0"/>
              <a:t>AI agent updating CRM and ordering system via MCP.</a:t>
            </a:r>
            <a:endParaRPr lang="en-US" sz="2400" dirty="0"/>
          </a:p>
          <a:p>
            <a:pPr>
              <a:lnSpc>
                <a:spcPct val="150000"/>
              </a:lnSpc>
            </a:pPr>
            <a:r>
              <a:rPr lang="en-IN" sz="2400" dirty="0"/>
              <a:t>LLM assistant interacts with Slack, Linear, and Notion through MCP servers.</a:t>
            </a:r>
            <a:endParaRPr lang="en-US" sz="2400" dirty="0"/>
          </a:p>
          <a:p>
            <a:pPr>
              <a:lnSpc>
                <a:spcPct val="150000"/>
              </a:lnSpc>
            </a:pPr>
            <a:r>
              <a:rPr lang="en-IN" sz="2400" dirty="0"/>
              <a:t>Workflow orchestration for customer support, knowledge base queries.</a:t>
            </a:r>
          </a:p>
          <a:p>
            <a:pPr marL="0" indent="0">
              <a:lnSpc>
                <a:spcPct val="150000"/>
              </a:lnSpc>
              <a:buNone/>
            </a:pPr>
            <a:r>
              <a:rPr lang="en-IN" sz="2400" b="1" dirty="0"/>
              <a:t>When to Use MCP</a:t>
            </a:r>
          </a:p>
          <a:p>
            <a:pPr lvl="0">
              <a:lnSpc>
                <a:spcPct val="150000"/>
              </a:lnSpc>
            </a:pPr>
            <a:r>
              <a:rPr lang="en-IN" sz="2400" dirty="0"/>
              <a:t>When agentic, multi-system, context-rich workflows are required.</a:t>
            </a:r>
          </a:p>
          <a:p>
            <a:pPr>
              <a:lnSpc>
                <a:spcPct val="150000"/>
              </a:lnSpc>
            </a:pPr>
            <a:r>
              <a:rPr lang="en-IN" sz="2400" dirty="0"/>
              <a:t>Ideal for live tool chaining, multi-modal information retrieval.</a:t>
            </a:r>
            <a:endParaRPr lang="en-US" sz="2400" dirty="0"/>
          </a:p>
        </p:txBody>
      </p:sp>
    </p:spTree>
    <p:extLst>
      <p:ext uri="{BB962C8B-B14F-4D97-AF65-F5344CB8AC3E}">
        <p14:creationId xmlns:p14="http://schemas.microsoft.com/office/powerpoint/2010/main" val="921137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92C6F-E966-EF6C-475E-A61BA736C8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78CDF8-ED2F-F66A-AE35-180DC5B93DD3}"/>
              </a:ext>
            </a:extLst>
          </p:cNvPr>
          <p:cNvSpPr>
            <a:spLocks noGrp="1"/>
          </p:cNvSpPr>
          <p:nvPr>
            <p:ph type="title"/>
          </p:nvPr>
        </p:nvSpPr>
        <p:spPr>
          <a:xfrm>
            <a:off x="705716" y="559667"/>
            <a:ext cx="10790959" cy="708746"/>
          </a:xfrm>
        </p:spPr>
        <p:txBody>
          <a:bodyPr>
            <a:normAutofit/>
          </a:bodyPr>
          <a:lstStyle/>
          <a:p>
            <a:pPr lvl="0"/>
            <a:r>
              <a:rPr lang="en-IN" dirty="0"/>
              <a:t>Technical Illustration of Server Example</a:t>
            </a:r>
            <a:endParaRPr lang="en-US" dirty="0"/>
          </a:p>
        </p:txBody>
      </p:sp>
      <p:pic>
        <p:nvPicPr>
          <p:cNvPr id="4" name="Content Placeholder 3">
            <a:extLst>
              <a:ext uri="{FF2B5EF4-FFF2-40B4-BE49-F238E27FC236}">
                <a16:creationId xmlns:a16="http://schemas.microsoft.com/office/drawing/2014/main" id="{FCF24111-7F00-BCFB-3089-BD961D78A188}"/>
              </a:ext>
            </a:extLst>
          </p:cNvPr>
          <p:cNvPicPr>
            <a:picLocks noGrp="1" noChangeAspect="1"/>
          </p:cNvPicPr>
          <p:nvPr>
            <p:ph idx="1"/>
          </p:nvPr>
        </p:nvPicPr>
        <p:blipFill>
          <a:blip r:embed="rId2"/>
          <a:stretch>
            <a:fillRect/>
          </a:stretch>
        </p:blipFill>
        <p:spPr>
          <a:xfrm>
            <a:off x="6754091" y="2265218"/>
            <a:ext cx="4623955" cy="2202873"/>
          </a:xfrm>
          <a:prstGeom prst="rect">
            <a:avLst/>
          </a:prstGeom>
        </p:spPr>
      </p:pic>
      <p:sp>
        <p:nvSpPr>
          <p:cNvPr id="6" name="TextBox 5">
            <a:extLst>
              <a:ext uri="{FF2B5EF4-FFF2-40B4-BE49-F238E27FC236}">
                <a16:creationId xmlns:a16="http://schemas.microsoft.com/office/drawing/2014/main" id="{E7CEA448-8BC2-BD84-E472-8A035E269A38}"/>
              </a:ext>
            </a:extLst>
          </p:cNvPr>
          <p:cNvSpPr txBox="1"/>
          <p:nvPr/>
        </p:nvSpPr>
        <p:spPr>
          <a:xfrm>
            <a:off x="705716" y="1639166"/>
            <a:ext cx="6391275" cy="3913059"/>
          </a:xfrm>
          <a:prstGeom prst="rect">
            <a:avLst/>
          </a:prstGeom>
          <a:noFill/>
        </p:spPr>
        <p:txBody>
          <a:bodyPr wrap="square">
            <a:spAutoFit/>
          </a:bodyPr>
          <a:lstStyle/>
          <a:p>
            <a:pPr>
              <a:lnSpc>
                <a:spcPct val="150000"/>
              </a:lnSpc>
            </a:pPr>
            <a:r>
              <a:rPr lang="en-IN" sz="2400" dirty="0"/>
              <a:t>Example server interface:</a:t>
            </a:r>
          </a:p>
          <a:p>
            <a:pPr marL="800100" lvl="1" indent="-342900">
              <a:lnSpc>
                <a:spcPct val="150000"/>
              </a:lnSpc>
              <a:buFont typeface="Arial" panose="020B0604020202020204" pitchFamily="34" charset="0"/>
              <a:buChar char="•"/>
            </a:pPr>
            <a:r>
              <a:rPr lang="en-IN" sz="2400" dirty="0"/>
              <a:t>Registers available tools (e.g., </a:t>
            </a:r>
            <a:r>
              <a:rPr lang="en-IN" sz="2400" dirty="0" err="1"/>
              <a:t>memory.search</a:t>
            </a:r>
            <a:r>
              <a:rPr lang="en-IN" sz="2400" dirty="0"/>
              <a:t>).</a:t>
            </a:r>
          </a:p>
          <a:p>
            <a:pPr marL="800100" lvl="1" indent="-342900">
              <a:lnSpc>
                <a:spcPct val="150000"/>
              </a:lnSpc>
              <a:buFont typeface="Arial" panose="020B0604020202020204" pitchFamily="34" charset="0"/>
              <a:buChar char="•"/>
            </a:pPr>
            <a:r>
              <a:rPr lang="en-IN" sz="2400" dirty="0"/>
              <a:t>Receives JSON-RPC requests, processes, responds with results.</a:t>
            </a:r>
          </a:p>
          <a:p>
            <a:pPr marL="800100" lvl="1" indent="-342900">
              <a:lnSpc>
                <a:spcPct val="150000"/>
              </a:lnSpc>
              <a:buFont typeface="Arial" panose="020B0604020202020204" pitchFamily="34" charset="0"/>
              <a:buChar char="•"/>
            </a:pPr>
            <a:r>
              <a:rPr lang="en-IN" sz="2400" dirty="0"/>
              <a:t>Connects to databases, file stores, or cloud APIs behind the scenes.</a:t>
            </a:r>
          </a:p>
        </p:txBody>
      </p:sp>
    </p:spTree>
    <p:extLst>
      <p:ext uri="{BB962C8B-B14F-4D97-AF65-F5344CB8AC3E}">
        <p14:creationId xmlns:p14="http://schemas.microsoft.com/office/powerpoint/2010/main" val="4189913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FCE26-101B-77B6-A748-FB06B7F4A8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1D3531-FAD9-B3A5-03F3-646A93915C16}"/>
              </a:ext>
            </a:extLst>
          </p:cNvPr>
          <p:cNvSpPr>
            <a:spLocks noGrp="1"/>
          </p:cNvSpPr>
          <p:nvPr>
            <p:ph type="title"/>
          </p:nvPr>
        </p:nvSpPr>
        <p:spPr>
          <a:xfrm>
            <a:off x="705716" y="559667"/>
            <a:ext cx="10790959" cy="708746"/>
          </a:xfrm>
        </p:spPr>
        <p:txBody>
          <a:bodyPr>
            <a:normAutofit/>
          </a:bodyPr>
          <a:lstStyle/>
          <a:p>
            <a:pPr lvl="0"/>
            <a:r>
              <a:rPr lang="en-IN" dirty="0"/>
              <a:t>Future Outlook &amp; Resources</a:t>
            </a:r>
            <a:endParaRPr lang="en-US" dirty="0"/>
          </a:p>
        </p:txBody>
      </p:sp>
      <p:sp>
        <p:nvSpPr>
          <p:cNvPr id="3" name="Content Placeholder 2">
            <a:extLst>
              <a:ext uri="{FF2B5EF4-FFF2-40B4-BE49-F238E27FC236}">
                <a16:creationId xmlns:a16="http://schemas.microsoft.com/office/drawing/2014/main" id="{441E1B4B-1C9A-961E-0F27-1982208CC7EC}"/>
              </a:ext>
            </a:extLst>
          </p:cNvPr>
          <p:cNvSpPr>
            <a:spLocks noGrp="1"/>
          </p:cNvSpPr>
          <p:nvPr>
            <p:ph idx="1"/>
          </p:nvPr>
        </p:nvSpPr>
        <p:spPr>
          <a:xfrm>
            <a:off x="705717" y="1639168"/>
            <a:ext cx="10790958" cy="4453658"/>
          </a:xfrm>
        </p:spPr>
        <p:txBody>
          <a:bodyPr>
            <a:normAutofit/>
          </a:bodyPr>
          <a:lstStyle/>
          <a:p>
            <a:pPr>
              <a:lnSpc>
                <a:spcPct val="100000"/>
              </a:lnSpc>
            </a:pPr>
            <a:r>
              <a:rPr lang="en-IN" sz="2400" dirty="0"/>
              <a:t>Industry convergence on MCP for scalable AI tool integration.</a:t>
            </a:r>
          </a:p>
          <a:p>
            <a:pPr>
              <a:lnSpc>
                <a:spcPct val="100000"/>
              </a:lnSpc>
            </a:pPr>
            <a:r>
              <a:rPr lang="en-IN" sz="2400" dirty="0"/>
              <a:t>Enhanced security features and universal SDKs in development.</a:t>
            </a:r>
          </a:p>
          <a:p>
            <a:pPr>
              <a:lnSpc>
                <a:spcPct val="100000"/>
              </a:lnSpc>
            </a:pPr>
            <a:r>
              <a:rPr lang="en-IN" sz="2400" dirty="0"/>
              <a:t>Growth in open-source server/client libraries</a:t>
            </a:r>
          </a:p>
          <a:p>
            <a:pPr marL="0" indent="0">
              <a:lnSpc>
                <a:spcPct val="100000"/>
              </a:lnSpc>
              <a:buNone/>
            </a:pPr>
            <a:endParaRPr lang="en-IN" sz="2400" b="1" dirty="0"/>
          </a:p>
          <a:p>
            <a:pPr marL="0" indent="0">
              <a:lnSpc>
                <a:spcPct val="100000"/>
              </a:lnSpc>
              <a:buNone/>
            </a:pPr>
            <a:r>
              <a:rPr lang="en-IN" sz="2400" b="1" dirty="0"/>
              <a:t>References &amp; Further Reading</a:t>
            </a:r>
          </a:p>
          <a:p>
            <a:pPr>
              <a:lnSpc>
                <a:spcPct val="100000"/>
              </a:lnSpc>
            </a:pPr>
            <a:r>
              <a:rPr lang="en-IN" sz="2400" dirty="0"/>
              <a:t>Official MCP documentation and architecture guides</a:t>
            </a:r>
            <a:endParaRPr lang="en-US" sz="2400" dirty="0"/>
          </a:p>
          <a:p>
            <a:pPr>
              <a:lnSpc>
                <a:spcPct val="100000"/>
              </a:lnSpc>
            </a:pPr>
            <a:r>
              <a:rPr lang="en-IN" sz="2400" dirty="0"/>
              <a:t>Industry blog case studies, workflow visualizations</a:t>
            </a:r>
            <a:endParaRPr lang="en-US" sz="2400" dirty="0"/>
          </a:p>
          <a:p>
            <a:pPr>
              <a:lnSpc>
                <a:spcPct val="100000"/>
              </a:lnSpc>
            </a:pPr>
            <a:r>
              <a:rPr lang="en-IN" sz="2400" dirty="0"/>
              <a:t>Example code repositories for MCP servers and clients.</a:t>
            </a:r>
            <a:endParaRPr lang="en-US" sz="2400" dirty="0"/>
          </a:p>
        </p:txBody>
      </p:sp>
    </p:spTree>
    <p:extLst>
      <p:ext uri="{BB962C8B-B14F-4D97-AF65-F5344CB8AC3E}">
        <p14:creationId xmlns:p14="http://schemas.microsoft.com/office/powerpoint/2010/main" val="1570886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324" y="549275"/>
            <a:ext cx="10817793" cy="719137"/>
          </a:xfrm>
        </p:spPr>
        <p:txBody>
          <a:bodyPr/>
          <a:lstStyle/>
          <a:p>
            <a:r>
              <a:rPr lang="en-US" dirty="0"/>
              <a:t>Hands On </a:t>
            </a:r>
            <a:r>
              <a:rPr dirty="0"/>
              <a:t>– Outcomes</a:t>
            </a:r>
          </a:p>
        </p:txBody>
      </p:sp>
      <p:sp>
        <p:nvSpPr>
          <p:cNvPr id="3" name="Content Placeholder 2"/>
          <p:cNvSpPr>
            <a:spLocks noGrp="1"/>
          </p:cNvSpPr>
          <p:nvPr>
            <p:ph idx="1"/>
          </p:nvPr>
        </p:nvSpPr>
        <p:spPr>
          <a:xfrm>
            <a:off x="708701" y="1635319"/>
            <a:ext cx="10787974" cy="4457506"/>
          </a:xfrm>
        </p:spPr>
        <p:txBody>
          <a:bodyPr>
            <a:normAutofit/>
          </a:bodyPr>
          <a:lstStyle/>
          <a:p>
            <a:pPr>
              <a:spcBef>
                <a:spcPts val="600"/>
              </a:spcBef>
              <a:spcAft>
                <a:spcPts val="600"/>
              </a:spcAft>
            </a:pPr>
            <a:r>
              <a:rPr sz="2400" dirty="0"/>
              <a:t>Explain why </a:t>
            </a:r>
            <a:r>
              <a:rPr sz="2400" dirty="0" err="1"/>
              <a:t>containerisation</a:t>
            </a:r>
            <a:r>
              <a:rPr sz="2400" dirty="0"/>
              <a:t> is useful for MCP servers.</a:t>
            </a:r>
          </a:p>
          <a:p>
            <a:pPr>
              <a:spcBef>
                <a:spcPts val="600"/>
              </a:spcBef>
              <a:spcAft>
                <a:spcPts val="600"/>
              </a:spcAft>
            </a:pPr>
            <a:r>
              <a:rPr sz="2400" dirty="0"/>
              <a:t>Describe MCP tools, resources, prompts and lifecycle as system capabilities.</a:t>
            </a:r>
          </a:p>
          <a:p>
            <a:pPr>
              <a:spcBef>
                <a:spcPts val="600"/>
              </a:spcBef>
              <a:spcAft>
                <a:spcPts val="600"/>
              </a:spcAft>
            </a:pPr>
            <a:r>
              <a:rPr sz="2400" dirty="0"/>
              <a:t>Build and run a Docker image for an MCP server.</a:t>
            </a:r>
          </a:p>
          <a:p>
            <a:pPr>
              <a:spcBef>
                <a:spcPts val="600"/>
              </a:spcBef>
              <a:spcAft>
                <a:spcPts val="600"/>
              </a:spcAft>
            </a:pPr>
            <a:r>
              <a:rPr sz="2400" dirty="0"/>
              <a:t>Connect an MCP host/client to a </a:t>
            </a:r>
            <a:r>
              <a:rPr sz="2400" dirty="0" err="1"/>
              <a:t>containerised</a:t>
            </a:r>
            <a:r>
              <a:rPr sz="2400" dirty="0"/>
              <a:t> MCP server.</a:t>
            </a:r>
          </a:p>
          <a:p>
            <a:pPr>
              <a:spcBef>
                <a:spcPts val="600"/>
              </a:spcBef>
              <a:spcAft>
                <a:spcPts val="600"/>
              </a:spcAft>
            </a:pPr>
            <a:r>
              <a:rPr sz="2400" dirty="0"/>
              <a:t>Discuss benefits and limitations of MCP in production.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8701" y="553971"/>
            <a:ext cx="10787974" cy="714442"/>
          </a:xfrm>
        </p:spPr>
        <p:txBody>
          <a:bodyPr/>
          <a:lstStyle/>
          <a:p>
            <a:r>
              <a:rPr dirty="0" err="1"/>
              <a:t>HRLeaveManager</a:t>
            </a:r>
            <a:r>
              <a:rPr dirty="0"/>
              <a:t> – A Realistic MCP Server</a:t>
            </a:r>
          </a:p>
        </p:txBody>
      </p:sp>
      <p:sp>
        <p:nvSpPr>
          <p:cNvPr id="3" name="Content Placeholder 2"/>
          <p:cNvSpPr>
            <a:spLocks noGrp="1"/>
          </p:cNvSpPr>
          <p:nvPr>
            <p:ph idx="1"/>
          </p:nvPr>
        </p:nvSpPr>
        <p:spPr>
          <a:xfrm>
            <a:off x="708702" y="1635319"/>
            <a:ext cx="10787974" cy="4457506"/>
          </a:xfrm>
        </p:spPr>
        <p:txBody>
          <a:bodyPr>
            <a:normAutofit/>
          </a:bodyPr>
          <a:lstStyle/>
          <a:p>
            <a:r>
              <a:rPr sz="2400" dirty="0"/>
              <a:t>Backed by SQLite with tables for employees, leave records, and leave balance history.</a:t>
            </a:r>
          </a:p>
          <a:p>
            <a:r>
              <a:rPr sz="2400" dirty="0"/>
              <a:t>Tools include: add/remove employee, </a:t>
            </a:r>
            <a:r>
              <a:rPr sz="2400" dirty="0" err="1"/>
              <a:t>update_leave_balance</a:t>
            </a:r>
            <a:r>
              <a:rPr sz="2400" dirty="0"/>
              <a:t>, </a:t>
            </a:r>
            <a:r>
              <a:rPr sz="2400" dirty="0" err="1"/>
              <a:t>apply_leave</a:t>
            </a:r>
            <a:r>
              <a:rPr sz="2400" dirty="0"/>
              <a:t>, </a:t>
            </a:r>
            <a:r>
              <a:rPr sz="2400" dirty="0" err="1"/>
              <a:t>list_employees</a:t>
            </a:r>
            <a:r>
              <a:rPr sz="2400" dirty="0"/>
              <a:t>.</a:t>
            </a:r>
          </a:p>
          <a:p>
            <a:r>
              <a:rPr sz="2400" dirty="0"/>
              <a:t>Reporting tools: </a:t>
            </a:r>
            <a:r>
              <a:rPr sz="2400" dirty="0" err="1"/>
              <a:t>get_department_summary</a:t>
            </a:r>
            <a:r>
              <a:rPr sz="2400" dirty="0"/>
              <a:t>, </a:t>
            </a:r>
            <a:r>
              <a:rPr sz="2400" dirty="0" err="1"/>
              <a:t>get_recent_leave_activity</a:t>
            </a:r>
            <a:r>
              <a:rPr sz="2400" dirty="0"/>
              <a:t>.</a:t>
            </a:r>
          </a:p>
          <a:p>
            <a:r>
              <a:rPr sz="2400" dirty="0"/>
              <a:t>Prompts: </a:t>
            </a:r>
            <a:r>
              <a:rPr sz="2400" dirty="0" err="1"/>
              <a:t>hr_dashboard_prompt</a:t>
            </a:r>
            <a:r>
              <a:rPr sz="2400" dirty="0"/>
              <a:t>, </a:t>
            </a:r>
            <a:r>
              <a:rPr sz="2400" dirty="0" err="1"/>
              <a:t>leave_report_prompt</a:t>
            </a:r>
            <a:r>
              <a:rPr sz="2400" dirty="0"/>
              <a:t> for richer LLM outputs.</a:t>
            </a:r>
          </a:p>
          <a:p>
            <a:r>
              <a:rPr sz="2400" dirty="0"/>
              <a:t>Closer to a real HR system than the in-memory example from</a:t>
            </a:r>
            <a:r>
              <a:rPr lang="en-US" sz="2400" dirty="0"/>
              <a:t> the first MCP session.</a:t>
            </a:r>
            <a:endParaRPr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8701" y="559215"/>
            <a:ext cx="10787974" cy="709198"/>
          </a:xfrm>
        </p:spPr>
        <p:txBody>
          <a:bodyPr/>
          <a:lstStyle/>
          <a:p>
            <a:r>
              <a:rPr dirty="0"/>
              <a:t>Installing an MCP Server with </a:t>
            </a:r>
            <a:r>
              <a:rPr dirty="0" err="1"/>
              <a:t>mcp</a:t>
            </a:r>
            <a:r>
              <a:rPr dirty="0"/>
              <a:t>[cli]</a:t>
            </a:r>
          </a:p>
        </p:txBody>
      </p:sp>
      <p:sp>
        <p:nvSpPr>
          <p:cNvPr id="3" name="Content Placeholder 2"/>
          <p:cNvSpPr>
            <a:spLocks noGrp="1"/>
          </p:cNvSpPr>
          <p:nvPr>
            <p:ph idx="1"/>
          </p:nvPr>
        </p:nvSpPr>
        <p:spPr>
          <a:xfrm>
            <a:off x="705264" y="1638714"/>
            <a:ext cx="10791412" cy="4444366"/>
          </a:xfrm>
        </p:spPr>
        <p:txBody>
          <a:bodyPr>
            <a:normAutofit/>
          </a:bodyPr>
          <a:lstStyle/>
          <a:p>
            <a:r>
              <a:rPr sz="2400" dirty="0"/>
              <a:t>Dependencies: </a:t>
            </a:r>
            <a:r>
              <a:rPr sz="2400" dirty="0" err="1"/>
              <a:t>mcp</a:t>
            </a:r>
            <a:r>
              <a:rPr sz="2400" dirty="0"/>
              <a:t>[cli] is declared in </a:t>
            </a:r>
            <a:r>
              <a:rPr sz="2400" dirty="0" err="1"/>
              <a:t>pyproject.toml</a:t>
            </a:r>
            <a:r>
              <a:rPr sz="2400" dirty="0"/>
              <a:t>.</a:t>
            </a:r>
          </a:p>
          <a:p>
            <a:r>
              <a:rPr sz="2400" dirty="0"/>
              <a:t>Use the `</a:t>
            </a:r>
            <a:r>
              <a:rPr sz="2400" dirty="0" err="1"/>
              <a:t>uv</a:t>
            </a:r>
            <a:r>
              <a:rPr sz="2400" dirty="0"/>
              <a:t>` tool (or plain Python) to run the MCP CLI.</a:t>
            </a:r>
          </a:p>
          <a:p>
            <a:r>
              <a:rPr sz="2400" dirty="0"/>
              <a:t>Conceptual example: `</a:t>
            </a:r>
            <a:r>
              <a:rPr sz="2400" dirty="0" err="1"/>
              <a:t>uv</a:t>
            </a:r>
            <a:r>
              <a:rPr sz="2400" dirty="0"/>
              <a:t> run </a:t>
            </a:r>
            <a:r>
              <a:rPr sz="2400" dirty="0" err="1"/>
              <a:t>mcp</a:t>
            </a:r>
            <a:r>
              <a:rPr sz="2400" dirty="0"/>
              <a:t> install main_v2.py` to register the server.</a:t>
            </a:r>
          </a:p>
          <a:p>
            <a:r>
              <a:rPr sz="2400" dirty="0"/>
              <a:t>Once installed, MCP-aware hosts can discover and call this server’s tools.</a:t>
            </a:r>
          </a:p>
          <a:p>
            <a:r>
              <a:rPr sz="2400" dirty="0"/>
              <a:t>Exact command may vary by environment; adapt for your lab machines.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8701" y="553971"/>
            <a:ext cx="10787974" cy="714442"/>
          </a:xfrm>
        </p:spPr>
        <p:txBody>
          <a:bodyPr/>
          <a:lstStyle/>
          <a:p>
            <a:r>
              <a:rPr dirty="0" err="1"/>
              <a:t>Dockerizing</a:t>
            </a:r>
            <a:r>
              <a:rPr dirty="0"/>
              <a:t> </a:t>
            </a:r>
            <a:r>
              <a:rPr dirty="0" err="1"/>
              <a:t>HRLeaveManager</a:t>
            </a:r>
            <a:r>
              <a:rPr dirty="0"/>
              <a:t> – Example </a:t>
            </a:r>
            <a:r>
              <a:rPr dirty="0" err="1"/>
              <a:t>Dockerfile</a:t>
            </a:r>
            <a:endParaRPr dirty="0"/>
          </a:p>
        </p:txBody>
      </p:sp>
      <p:sp>
        <p:nvSpPr>
          <p:cNvPr id="3" name="Content Placeholder 2"/>
          <p:cNvSpPr>
            <a:spLocks noGrp="1"/>
          </p:cNvSpPr>
          <p:nvPr>
            <p:ph idx="1"/>
          </p:nvPr>
        </p:nvSpPr>
        <p:spPr>
          <a:xfrm>
            <a:off x="708701" y="1635319"/>
            <a:ext cx="10787974" cy="4457506"/>
          </a:xfrm>
        </p:spPr>
        <p:txBody>
          <a:bodyPr/>
          <a:lstStyle/>
          <a:p>
            <a:pPr marL="0" indent="0">
              <a:buNone/>
            </a:pPr>
            <a:r>
              <a:rPr sz="1000" dirty="0">
                <a:latin typeface="Consolas"/>
              </a:rPr>
              <a:t>FROM python:3.13-slim
WORKDIR /app
# Copy project metadata and install dependencies
COPY </a:t>
            </a:r>
            <a:r>
              <a:rPr sz="1000" dirty="0" err="1">
                <a:latin typeface="Consolas"/>
              </a:rPr>
              <a:t>pyproject.toml</a:t>
            </a:r>
            <a:r>
              <a:rPr sz="1000" dirty="0">
                <a:latin typeface="Consolas"/>
              </a:rPr>
              <a:t> README.md ./
RUN pip install </a:t>
            </a:r>
            <a:r>
              <a:rPr sz="1000" dirty="0" err="1">
                <a:latin typeface="Consolas"/>
              </a:rPr>
              <a:t>uv</a:t>
            </a:r>
            <a:r>
              <a:rPr sz="1000" dirty="0">
                <a:latin typeface="Consolas"/>
              </a:rPr>
              <a:t> &amp;&amp; </a:t>
            </a:r>
            <a:r>
              <a:rPr sz="1000" dirty="0" err="1">
                <a:latin typeface="Consolas"/>
              </a:rPr>
              <a:t>uv</a:t>
            </a:r>
            <a:r>
              <a:rPr sz="1000" dirty="0">
                <a:latin typeface="Consolas"/>
              </a:rPr>
              <a:t> sync --no-dev
# Copy source code
COPY . .
# Expose MCP server </a:t>
            </a:r>
            <a:r>
              <a:rPr sz="1000" dirty="0" err="1">
                <a:latin typeface="Consolas"/>
              </a:rPr>
              <a:t>entrypoint</a:t>
            </a:r>
            <a:r>
              <a:rPr sz="1000" dirty="0">
                <a:latin typeface="Consolas"/>
              </a:rPr>
              <a:t>
CMD ["</a:t>
            </a:r>
            <a:r>
              <a:rPr sz="1000" dirty="0" err="1">
                <a:latin typeface="Consolas"/>
              </a:rPr>
              <a:t>uv</a:t>
            </a:r>
            <a:r>
              <a:rPr sz="1000" dirty="0">
                <a:latin typeface="Consolas"/>
              </a:rPr>
              <a:t>", "run", "python", "main_v2.py"]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8701" y="553971"/>
            <a:ext cx="10787974" cy="714442"/>
          </a:xfrm>
        </p:spPr>
        <p:txBody>
          <a:bodyPr/>
          <a:lstStyle/>
          <a:p>
            <a:r>
              <a:rPr dirty="0"/>
              <a:t>Building and Running the Container</a:t>
            </a:r>
          </a:p>
        </p:txBody>
      </p:sp>
      <p:sp>
        <p:nvSpPr>
          <p:cNvPr id="3" name="Content Placeholder 2"/>
          <p:cNvSpPr>
            <a:spLocks noGrp="1"/>
          </p:cNvSpPr>
          <p:nvPr>
            <p:ph idx="1"/>
          </p:nvPr>
        </p:nvSpPr>
        <p:spPr>
          <a:xfrm>
            <a:off x="708701" y="1638713"/>
            <a:ext cx="10787974" cy="4454111"/>
          </a:xfrm>
        </p:spPr>
        <p:txBody>
          <a:bodyPr>
            <a:normAutofit/>
          </a:bodyPr>
          <a:lstStyle/>
          <a:p>
            <a:r>
              <a:rPr sz="2400" dirty="0"/>
              <a:t>From the project root, build the image:</a:t>
            </a:r>
          </a:p>
          <a:p>
            <a:r>
              <a:rPr sz="2400" dirty="0"/>
              <a:t>  docker build -t </a:t>
            </a:r>
            <a:r>
              <a:rPr sz="2400" dirty="0" err="1"/>
              <a:t>hr</a:t>
            </a:r>
            <a:r>
              <a:rPr sz="2400" dirty="0"/>
              <a:t>-leave-</a:t>
            </a:r>
            <a:r>
              <a:rPr sz="2400" dirty="0" err="1"/>
              <a:t>mcp</a:t>
            </a:r>
            <a:r>
              <a:rPr sz="2400" dirty="0"/>
              <a:t> .</a:t>
            </a:r>
          </a:p>
          <a:p>
            <a:r>
              <a:rPr sz="2400" dirty="0"/>
              <a:t>Run the container:</a:t>
            </a:r>
          </a:p>
          <a:p>
            <a:r>
              <a:rPr sz="2400" dirty="0"/>
              <a:t>  docker run --rm -p 8080:8080 </a:t>
            </a:r>
            <a:r>
              <a:rPr sz="2400" dirty="0" err="1"/>
              <a:t>hr</a:t>
            </a:r>
            <a:r>
              <a:rPr sz="2400" dirty="0"/>
              <a:t>-leave-</a:t>
            </a:r>
            <a:r>
              <a:rPr sz="2400" dirty="0" err="1"/>
              <a:t>mcp</a:t>
            </a:r>
            <a:endParaRPr sz="2400" dirty="0"/>
          </a:p>
          <a:p>
            <a:r>
              <a:rPr sz="2400" dirty="0"/>
              <a:t>Bind ports or use STDIO according to how your MCP client connects to servers.</a:t>
            </a:r>
          </a:p>
          <a:p>
            <a:r>
              <a:rPr sz="2400" dirty="0"/>
              <a:t>Use a volume for the SQLite DB if you need to persist data across container restarts.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8701" y="563910"/>
            <a:ext cx="10787974" cy="704503"/>
          </a:xfrm>
        </p:spPr>
        <p:txBody>
          <a:bodyPr/>
          <a:lstStyle/>
          <a:p>
            <a:r>
              <a:rPr dirty="0"/>
              <a:t>Security &amp; Data Protection for MCP Servers</a:t>
            </a:r>
          </a:p>
        </p:txBody>
      </p:sp>
      <p:sp>
        <p:nvSpPr>
          <p:cNvPr id="3" name="Content Placeholder 2"/>
          <p:cNvSpPr>
            <a:spLocks noGrp="1"/>
          </p:cNvSpPr>
          <p:nvPr>
            <p:ph idx="1"/>
          </p:nvPr>
        </p:nvSpPr>
        <p:spPr>
          <a:xfrm>
            <a:off x="708701" y="1635319"/>
            <a:ext cx="10787974" cy="4457506"/>
          </a:xfrm>
        </p:spPr>
        <p:txBody>
          <a:bodyPr>
            <a:normAutofit/>
          </a:bodyPr>
          <a:lstStyle/>
          <a:p>
            <a:r>
              <a:rPr sz="2400" dirty="0"/>
              <a:t>Expose only the tools and tables you want the LLM to access.</a:t>
            </a:r>
          </a:p>
          <a:p>
            <a:r>
              <a:rPr sz="2400" dirty="0"/>
              <a:t>Avoid embedding sensitive fields in prompts and tool outputs unnecessarily.</a:t>
            </a:r>
          </a:p>
          <a:p>
            <a:r>
              <a:rPr sz="2400" dirty="0"/>
              <a:t>Use environment variables or secret stores for credentials and API keys.</a:t>
            </a:r>
          </a:p>
          <a:p>
            <a:r>
              <a:rPr sz="2400" dirty="0"/>
              <a:t>Log tool calls (within policy) for auditability and debugging.</a:t>
            </a:r>
          </a:p>
          <a:p>
            <a:r>
              <a:rPr sz="2400" dirty="0"/>
              <a:t>Restrict network access to the MCP server within internal or sandboxed environments.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8701" y="553971"/>
            <a:ext cx="10804417" cy="714442"/>
          </a:xfrm>
        </p:spPr>
        <p:txBody>
          <a:bodyPr/>
          <a:lstStyle/>
          <a:p>
            <a:r>
              <a:rPr dirty="0"/>
              <a:t>Lab – </a:t>
            </a:r>
            <a:r>
              <a:rPr dirty="0" err="1"/>
              <a:t>Containerise</a:t>
            </a:r>
            <a:r>
              <a:rPr dirty="0"/>
              <a:t> &amp; Connect </a:t>
            </a:r>
            <a:r>
              <a:rPr dirty="0" err="1"/>
              <a:t>HRLeaveManager</a:t>
            </a:r>
            <a:endParaRPr dirty="0"/>
          </a:p>
        </p:txBody>
      </p:sp>
      <p:sp>
        <p:nvSpPr>
          <p:cNvPr id="3" name="Content Placeholder 2"/>
          <p:cNvSpPr>
            <a:spLocks noGrp="1"/>
          </p:cNvSpPr>
          <p:nvPr>
            <p:ph idx="1"/>
          </p:nvPr>
        </p:nvSpPr>
        <p:spPr>
          <a:xfrm>
            <a:off x="708701" y="1635319"/>
            <a:ext cx="10804417" cy="4457506"/>
          </a:xfrm>
        </p:spPr>
        <p:txBody>
          <a:bodyPr>
            <a:normAutofit/>
          </a:bodyPr>
          <a:lstStyle/>
          <a:p>
            <a:pPr marL="0" indent="0">
              <a:buNone/>
            </a:pPr>
            <a:r>
              <a:rPr sz="2400" b="1" dirty="0"/>
              <a:t>Goal</a:t>
            </a:r>
            <a:r>
              <a:rPr sz="2400" dirty="0"/>
              <a:t>: go from Python script to </a:t>
            </a:r>
            <a:r>
              <a:rPr sz="2400" dirty="0" err="1"/>
              <a:t>containerised</a:t>
            </a:r>
            <a:r>
              <a:rPr sz="2400" dirty="0"/>
              <a:t> MCP service.</a:t>
            </a:r>
          </a:p>
          <a:p>
            <a:pPr marL="0" indent="0">
              <a:buNone/>
            </a:pPr>
            <a:r>
              <a:rPr sz="2400" b="1" dirty="0"/>
              <a:t>Tasks</a:t>
            </a:r>
            <a:r>
              <a:rPr sz="2400" dirty="0"/>
              <a:t>:</a:t>
            </a:r>
          </a:p>
          <a:p>
            <a:r>
              <a:rPr sz="2400" dirty="0"/>
              <a:t>Build a Docker image for main_v2.py using the example </a:t>
            </a:r>
            <a:r>
              <a:rPr sz="2400" dirty="0" err="1"/>
              <a:t>Dockerfile</a:t>
            </a:r>
            <a:r>
              <a:rPr sz="2400" dirty="0"/>
              <a:t>.</a:t>
            </a:r>
          </a:p>
          <a:p>
            <a:r>
              <a:rPr sz="2400" dirty="0"/>
              <a:t>Run the container and confirm the server starts correctly.</a:t>
            </a:r>
          </a:p>
          <a:p>
            <a:r>
              <a:rPr sz="2400" dirty="0"/>
              <a:t>From an MCP host/client, call </a:t>
            </a:r>
            <a:r>
              <a:rPr sz="2400" dirty="0" err="1"/>
              <a:t>list_employees</a:t>
            </a:r>
            <a:r>
              <a:rPr sz="2400" dirty="0"/>
              <a:t> and </a:t>
            </a:r>
            <a:r>
              <a:rPr sz="2400" dirty="0" err="1"/>
              <a:t>get_department_summary</a:t>
            </a:r>
            <a:r>
              <a:rPr sz="2400" dirty="0"/>
              <a:t>.</a:t>
            </a:r>
          </a:p>
          <a:p>
            <a:r>
              <a:rPr sz="2400" dirty="0"/>
              <a:t>Discuss what would change between development, staging and production deployments.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8701" y="553971"/>
            <a:ext cx="10787974" cy="714442"/>
          </a:xfrm>
        </p:spPr>
        <p:txBody>
          <a:bodyPr/>
          <a:lstStyle/>
          <a:p>
            <a:r>
              <a:rPr dirty="0"/>
              <a:t>Preparing for Case Study 2</a:t>
            </a:r>
          </a:p>
        </p:txBody>
      </p:sp>
      <p:sp>
        <p:nvSpPr>
          <p:cNvPr id="3" name="Content Placeholder 2"/>
          <p:cNvSpPr>
            <a:spLocks noGrp="1"/>
          </p:cNvSpPr>
          <p:nvPr>
            <p:ph idx="1"/>
          </p:nvPr>
        </p:nvSpPr>
        <p:spPr>
          <a:xfrm>
            <a:off x="708701" y="1635319"/>
            <a:ext cx="10787974" cy="4457506"/>
          </a:xfrm>
        </p:spPr>
        <p:txBody>
          <a:bodyPr>
            <a:normAutofit/>
          </a:bodyPr>
          <a:lstStyle/>
          <a:p>
            <a:pPr>
              <a:spcBef>
                <a:spcPts val="600"/>
              </a:spcBef>
              <a:spcAft>
                <a:spcPts val="600"/>
              </a:spcAft>
            </a:pPr>
            <a:r>
              <a:rPr sz="2400" dirty="0"/>
              <a:t>Think like HR stakeholders: what additional capabilities would they ask for?</a:t>
            </a:r>
          </a:p>
          <a:p>
            <a:pPr>
              <a:spcBef>
                <a:spcPts val="600"/>
              </a:spcBef>
              <a:spcAft>
                <a:spcPts val="600"/>
              </a:spcAft>
            </a:pPr>
            <a:r>
              <a:rPr sz="2400" dirty="0"/>
              <a:t>Examples: approval workflows, stricter validation, export tools, manager views, insights.</a:t>
            </a:r>
          </a:p>
          <a:p>
            <a:pPr>
              <a:spcBef>
                <a:spcPts val="600"/>
              </a:spcBef>
              <a:spcAft>
                <a:spcPts val="600"/>
              </a:spcAft>
            </a:pPr>
            <a:r>
              <a:rPr sz="2400" dirty="0"/>
              <a:t>In </a:t>
            </a:r>
            <a:r>
              <a:rPr lang="en-US" sz="2400" dirty="0"/>
              <a:t>the Case Study 2 session</a:t>
            </a:r>
            <a:r>
              <a:rPr sz="2400" dirty="0"/>
              <a:t>, teams will extend </a:t>
            </a:r>
            <a:r>
              <a:rPr sz="2400" dirty="0" err="1"/>
              <a:t>HRLeaveManager</a:t>
            </a:r>
            <a:r>
              <a:rPr sz="2400" dirty="0"/>
              <a:t> to cover some of these needs.</a:t>
            </a:r>
          </a:p>
          <a:p>
            <a:pPr>
              <a:spcBef>
                <a:spcPts val="600"/>
              </a:spcBef>
              <a:spcAft>
                <a:spcPts val="600"/>
              </a:spcAft>
            </a:pPr>
            <a:r>
              <a:rPr sz="2400" dirty="0"/>
              <a:t>You will design new tools/prompts and run them in a </a:t>
            </a:r>
            <a:r>
              <a:rPr sz="2400" dirty="0" err="1"/>
              <a:t>containerised</a:t>
            </a:r>
            <a:r>
              <a:rPr sz="2400" dirty="0"/>
              <a:t> environment.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155864" y="2546350"/>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p>
          <a:p>
            <a:pPr algn="ctr"/>
            <a:r>
              <a:rPr lang="en-US" sz="2800" b="1" i="1" dirty="0">
                <a:latin typeface="Calibri" panose="020F0502020204030204" pitchFamily="34" charset="0"/>
              </a:rPr>
              <a:t>(Q&amp;A)</a:t>
            </a:r>
            <a:endParaRPr lang="en-IN" sz="6600" b="1" i="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7340</TotalTime>
  <Words>931</Words>
  <Application>Microsoft Office PowerPoint</Application>
  <PresentationFormat>Widescreen</PresentationFormat>
  <Paragraphs>92</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Consolas</vt:lpstr>
      <vt:lpstr>BIA Template</vt:lpstr>
      <vt:lpstr>PowerPoint Presentation</vt:lpstr>
      <vt:lpstr>Agenda</vt:lpstr>
      <vt:lpstr>Technical Terms and System Capabilities</vt:lpstr>
      <vt:lpstr>Key Benefits of MCP</vt:lpstr>
      <vt:lpstr>Limitations and Industry Challenges</vt:lpstr>
      <vt:lpstr>Real-World Use Cases</vt:lpstr>
      <vt:lpstr>Technical Illustration of Server Example</vt:lpstr>
      <vt:lpstr>Future Outlook &amp; Resources</vt:lpstr>
      <vt:lpstr>Hands On – Outcomes</vt:lpstr>
      <vt:lpstr>HRLeaveManager – A Realistic MCP Server</vt:lpstr>
      <vt:lpstr>Installing an MCP Server with mcp[cli]</vt:lpstr>
      <vt:lpstr>Dockerizing HRLeaveManager – Example Dockerfile</vt:lpstr>
      <vt:lpstr>Building and Running the Container</vt:lpstr>
      <vt:lpstr>Security &amp; Data Protection for MCP Servers</vt:lpstr>
      <vt:lpstr>Lab – Containerise &amp; Connect HRLeaveManager</vt:lpstr>
      <vt:lpstr>Preparing for Case Study 2</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Simon Nadar</cp:lastModifiedBy>
  <cp:revision>2313</cp:revision>
  <dcterms:created xsi:type="dcterms:W3CDTF">2020-12-23T13:36:00Z</dcterms:created>
  <dcterms:modified xsi:type="dcterms:W3CDTF">2025-11-21T13:11:05Z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