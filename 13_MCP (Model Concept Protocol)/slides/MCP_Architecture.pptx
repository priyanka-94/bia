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0"/>
  </p:notesMasterIdLst>
  <p:sldIdLst>
    <p:sldId id="256" r:id="rId2"/>
    <p:sldId id="674" r:id="rId3"/>
    <p:sldId id="257" r:id="rId4"/>
    <p:sldId id="675" r:id="rId5"/>
    <p:sldId id="676" r:id="rId6"/>
    <p:sldId id="696" r:id="rId7"/>
    <p:sldId id="698" r:id="rId8"/>
    <p:sldId id="680" r:id="rId9"/>
    <p:sldId id="699" r:id="rId10"/>
    <p:sldId id="700" r:id="rId11"/>
    <p:sldId id="701" r:id="rId12"/>
    <p:sldId id="702" r:id="rId13"/>
    <p:sldId id="703" r:id="rId14"/>
    <p:sldId id="704" r:id="rId15"/>
    <p:sldId id="705" r:id="rId16"/>
    <p:sldId id="706" r:id="rId17"/>
    <p:sldId id="707" r:id="rId18"/>
    <p:sldId id="30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5" userDrawn="1">
          <p15:clr>
            <a:srgbClr val="A4A3A4"/>
          </p15:clr>
        </p15:guide>
        <p15:guide id="2" orient="horz" pos="346" userDrawn="1">
          <p15:clr>
            <a:srgbClr val="A4A3A4"/>
          </p15:clr>
        </p15:guide>
        <p15:guide id="3" orient="horz" pos="799" userDrawn="1">
          <p15:clr>
            <a:srgbClr val="A4A3A4"/>
          </p15:clr>
        </p15:guide>
        <p15:guide id="4" orient="horz" pos="1026" userDrawn="1">
          <p15:clr>
            <a:srgbClr val="A4A3A4"/>
          </p15:clr>
        </p15:guide>
        <p15:guide id="5" orient="horz" pos="3838" userDrawn="1">
          <p15:clr>
            <a:srgbClr val="A4A3A4"/>
          </p15:clr>
        </p15:guide>
        <p15:guide id="6" pos="72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51546F"/>
    <a:srgbClr val="333F50"/>
    <a:srgbClr val="8497B0"/>
    <a:srgbClr val="8FAADC"/>
    <a:srgbClr val="2F5597"/>
    <a:srgbClr val="626CC7"/>
    <a:srgbClr val="323B8D"/>
    <a:srgbClr val="21275D"/>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810" autoAdjust="0"/>
    <p:restoredTop sz="93447" autoAdjust="0"/>
  </p:normalViewPr>
  <p:slideViewPr>
    <p:cSldViewPr snapToGrid="0">
      <p:cViewPr varScale="1">
        <p:scale>
          <a:sx n="96" d="100"/>
          <a:sy n="96" d="100"/>
        </p:scale>
        <p:origin x="450" y="84"/>
      </p:cViewPr>
      <p:guideLst>
        <p:guide pos="415"/>
        <p:guide orient="horz" pos="346"/>
        <p:guide orient="horz" pos="799"/>
        <p:guide orient="horz" pos="1026"/>
        <p:guide orient="horz" pos="3838"/>
        <p:guide pos="7242"/>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21-11-2025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E12E6B-9C5A-074F-A65D-435E8AEEA129}" type="slidenum">
              <a:rPr lang="en-US" smtClean="0"/>
              <a:t>3</a:t>
            </a:fld>
            <a:endParaRPr lang="en-US"/>
          </a:p>
        </p:txBody>
      </p:sp>
    </p:spTree>
    <p:extLst>
      <p:ext uri="{BB962C8B-B14F-4D97-AF65-F5344CB8AC3E}">
        <p14:creationId xmlns:p14="http://schemas.microsoft.com/office/powerpoint/2010/main" val="1279307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75F83-83DF-CC29-DEC2-4511710DB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6A3AF-1C32-933E-20F1-2C4E0C8C89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B7ACAD-19E3-B29A-3C6A-F71480F541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8B47E6-65E4-F3FD-A611-087B59804027}"/>
              </a:ext>
            </a:extLst>
          </p:cNvPr>
          <p:cNvSpPr>
            <a:spLocks noGrp="1"/>
          </p:cNvSpPr>
          <p:nvPr>
            <p:ph type="sldNum" sz="quarter" idx="5"/>
          </p:nvPr>
        </p:nvSpPr>
        <p:spPr/>
        <p:txBody>
          <a:bodyPr/>
          <a:lstStyle/>
          <a:p>
            <a:fld id="{9FE12E6B-9C5A-074F-A65D-435E8AEEA129}" type="slidenum">
              <a:rPr lang="en-US" smtClean="0"/>
              <a:t>4</a:t>
            </a:fld>
            <a:endParaRPr lang="en-US"/>
          </a:p>
        </p:txBody>
      </p:sp>
    </p:spTree>
    <p:extLst>
      <p:ext uri="{BB962C8B-B14F-4D97-AF65-F5344CB8AC3E}">
        <p14:creationId xmlns:p14="http://schemas.microsoft.com/office/powerpoint/2010/main" val="1871580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D5047-7498-FE86-8D5E-686CB9FB4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3F1098-06C3-36E4-AA80-E74ECADEB3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53BFAF-C0E8-1DFF-1DF1-F493D820E7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5F9C4C-AA1F-5CD1-04A7-34FD686B983D}"/>
              </a:ext>
            </a:extLst>
          </p:cNvPr>
          <p:cNvSpPr>
            <a:spLocks noGrp="1"/>
          </p:cNvSpPr>
          <p:nvPr>
            <p:ph type="sldNum" sz="quarter" idx="5"/>
          </p:nvPr>
        </p:nvSpPr>
        <p:spPr/>
        <p:txBody>
          <a:bodyPr/>
          <a:lstStyle/>
          <a:p>
            <a:fld id="{9FE12E6B-9C5A-074F-A65D-435E8AEEA129}" type="slidenum">
              <a:rPr lang="en-US" smtClean="0"/>
              <a:t>5</a:t>
            </a:fld>
            <a:endParaRPr lang="en-US"/>
          </a:p>
        </p:txBody>
      </p:sp>
    </p:spTree>
    <p:extLst>
      <p:ext uri="{BB962C8B-B14F-4D97-AF65-F5344CB8AC3E}">
        <p14:creationId xmlns:p14="http://schemas.microsoft.com/office/powerpoint/2010/main" val="942227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FC0A7-8DE7-AE5C-CCF8-3AE46A5D57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F84F82-203E-BD18-3AD3-A0F93D4CC3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1749AD-9A9A-D885-B0F7-39B9853CAE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7CB5E3-34DC-681E-06FF-CF3F37C3D4E4}"/>
              </a:ext>
            </a:extLst>
          </p:cNvPr>
          <p:cNvSpPr>
            <a:spLocks noGrp="1"/>
          </p:cNvSpPr>
          <p:nvPr>
            <p:ph type="sldNum" sz="quarter" idx="5"/>
          </p:nvPr>
        </p:nvSpPr>
        <p:spPr/>
        <p:txBody>
          <a:bodyPr/>
          <a:lstStyle/>
          <a:p>
            <a:fld id="{9FE12E6B-9C5A-074F-A65D-435E8AEEA129}" type="slidenum">
              <a:rPr lang="en-US" smtClean="0"/>
              <a:t>6</a:t>
            </a:fld>
            <a:endParaRPr lang="en-US"/>
          </a:p>
        </p:txBody>
      </p:sp>
    </p:spTree>
    <p:extLst>
      <p:ext uri="{BB962C8B-B14F-4D97-AF65-F5344CB8AC3E}">
        <p14:creationId xmlns:p14="http://schemas.microsoft.com/office/powerpoint/2010/main" val="1868926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D561D-C3A1-7BF2-D363-E76B130FB5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7775E9-0FB0-816C-19DD-5407A7272D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BD7A68-AC49-9B68-C89A-0C31F1075F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78B67C-457D-EB39-3533-8CEE2283FB19}"/>
              </a:ext>
            </a:extLst>
          </p:cNvPr>
          <p:cNvSpPr>
            <a:spLocks noGrp="1"/>
          </p:cNvSpPr>
          <p:nvPr>
            <p:ph type="sldNum" sz="quarter" idx="5"/>
          </p:nvPr>
        </p:nvSpPr>
        <p:spPr/>
        <p:txBody>
          <a:bodyPr/>
          <a:lstStyle/>
          <a:p>
            <a:fld id="{9FE12E6B-9C5A-074F-A65D-435E8AEEA129}" type="slidenum">
              <a:rPr lang="en-US" smtClean="0"/>
              <a:t>7</a:t>
            </a:fld>
            <a:endParaRPr lang="en-US"/>
          </a:p>
        </p:txBody>
      </p:sp>
    </p:spTree>
    <p:extLst>
      <p:ext uri="{BB962C8B-B14F-4D97-AF65-F5344CB8AC3E}">
        <p14:creationId xmlns:p14="http://schemas.microsoft.com/office/powerpoint/2010/main" val="2685798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AB5D7-ED02-654C-DB95-3A1B99B864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52FC0B-E15F-E5D5-B44C-1D7CF681A0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22E019-7FA6-B85A-3AF2-F630444028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ACDB01-1449-5235-F5B3-72FC50B25439}"/>
              </a:ext>
            </a:extLst>
          </p:cNvPr>
          <p:cNvSpPr>
            <a:spLocks noGrp="1"/>
          </p:cNvSpPr>
          <p:nvPr>
            <p:ph type="sldNum" sz="quarter" idx="5"/>
          </p:nvPr>
        </p:nvSpPr>
        <p:spPr/>
        <p:txBody>
          <a:bodyPr/>
          <a:lstStyle/>
          <a:p>
            <a:fld id="{9FE12E6B-9C5A-074F-A65D-435E8AEEA129}" type="slidenum">
              <a:rPr lang="en-US" smtClean="0"/>
              <a:t>8</a:t>
            </a:fld>
            <a:endParaRPr lang="en-US"/>
          </a:p>
        </p:txBody>
      </p:sp>
    </p:spTree>
    <p:extLst>
      <p:ext uri="{BB962C8B-B14F-4D97-AF65-F5344CB8AC3E}">
        <p14:creationId xmlns:p14="http://schemas.microsoft.com/office/powerpoint/2010/main" val="23805547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31800" y="89584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1659835"/>
            <a:ext cx="7057847"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5" name="Title 1">
            <a:extLst>
              <a:ext uri="{FF2B5EF4-FFF2-40B4-BE49-F238E27FC236}">
                <a16:creationId xmlns:a16="http://schemas.microsoft.com/office/drawing/2014/main" id="{F169BDF6-EA32-8D15-7297-96F5B8F6EF09}"/>
              </a:ext>
            </a:extLst>
          </p:cNvPr>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5999928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solidFill>
                <a:srgbClr val="161A3E"/>
              </a:solidFill>
            </a:endParaRP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
        <p:nvSpPr>
          <p:cNvPr id="5" name="Title 1">
            <a:extLst>
              <a:ext uri="{FF2B5EF4-FFF2-40B4-BE49-F238E27FC236}">
                <a16:creationId xmlns:a16="http://schemas.microsoft.com/office/drawing/2014/main" id="{8AA7827E-D2A7-AA00-8D40-7B76E978D014}"/>
              </a:ext>
            </a:extLst>
          </p:cNvPr>
          <p:cNvSpPr>
            <a:spLocks noGrp="1"/>
          </p:cNvSpPr>
          <p:nvPr>
            <p:ph type="title"/>
          </p:nvPr>
        </p:nvSpPr>
        <p:spPr>
          <a:xfrm>
            <a:off x="838202" y="2049670"/>
            <a:ext cx="2743200" cy="2562226"/>
          </a:xfrm>
        </p:spPr>
        <p:txBody>
          <a:bodyPr/>
          <a:lstStyle>
            <a:lvl1pPr>
              <a:defRPr>
                <a:solidFill>
                  <a:srgbClr val="161A3E"/>
                </a:solidFill>
              </a:defRPr>
            </a:lvl1pPr>
          </a:lstStyle>
          <a:p>
            <a:r>
              <a:rPr lang="en-US" dirty="0"/>
              <a:t>Click to edit Master title style</a:t>
            </a:r>
          </a:p>
        </p:txBody>
      </p:sp>
    </p:spTree>
    <p:extLst>
      <p:ext uri="{BB962C8B-B14F-4D97-AF65-F5344CB8AC3E}">
        <p14:creationId xmlns:p14="http://schemas.microsoft.com/office/powerpoint/2010/main" val="6455390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61A3E"/>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solidFill>
                <a:srgbClr val="161A3E"/>
              </a:solidFill>
            </a:endParaRPr>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solidFill>
                  <a:srgbClr val="161A3E"/>
                </a:solidFill>
              </a:defRPr>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rgbClr val="161A3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lvl1pPr>
              <a:defRPr>
                <a:solidFill>
                  <a:srgbClr val="161A3E"/>
                </a:solidFill>
              </a:defRPr>
            </a:lvl1p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solidFill>
                  <a:srgbClr val="161A3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solidFill>
                  <a:srgbClr val="161A3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rgbClr val="161A3E"/>
                </a:solidFill>
              </a:defRPr>
            </a:lvl1pPr>
            <a:lvl2pPr>
              <a:defRPr sz="2800">
                <a:solidFill>
                  <a:srgbClr val="161A3E"/>
                </a:solidFill>
              </a:defRPr>
            </a:lvl2pPr>
            <a:lvl3pPr>
              <a:defRPr sz="2400">
                <a:solidFill>
                  <a:srgbClr val="161A3E"/>
                </a:solidFill>
              </a:defRPr>
            </a:lvl3pPr>
            <a:lvl4pPr>
              <a:defRPr sz="2000">
                <a:solidFill>
                  <a:srgbClr val="161A3E"/>
                </a:solidFill>
              </a:defRPr>
            </a:lvl4pPr>
            <a:lvl5pPr>
              <a:defRPr sz="2000">
                <a:solidFill>
                  <a:srgbClr val="161A3E"/>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solidFill>
                  <a:srgbClr val="161A3E"/>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678692" y="2256181"/>
            <a:ext cx="10837862" cy="23754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6000" b="1" dirty="0"/>
              <a:t>MCP: Architecture</a:t>
            </a:r>
            <a:endParaRPr lang="en-US" sz="6000" b="1" dirty="0">
              <a:latin typeface="Calibri" panose="020F0502020204030204" pitchFamily="34" charset="0"/>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69205" y="559666"/>
            <a:ext cx="10827470" cy="708747"/>
          </a:xfrm>
        </p:spPr>
        <p:txBody>
          <a:bodyPr/>
          <a:lstStyle/>
          <a:p>
            <a:r>
              <a:rPr lang="en-IN" dirty="0"/>
              <a:t>Agenda</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69204" y="1639166"/>
            <a:ext cx="10827471" cy="4453659"/>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r>
              <a:rPr lang="en-IN" dirty="0">
                <a:solidFill>
                  <a:srgbClr val="161A3E"/>
                </a:solidFill>
              </a:rPr>
              <a:t>What is MCP?</a:t>
            </a:r>
          </a:p>
          <a:p>
            <a:r>
              <a:rPr lang="en-IN" dirty="0">
                <a:solidFill>
                  <a:srgbClr val="161A3E"/>
                </a:solidFill>
              </a:rPr>
              <a:t>MCP's Core Concepts</a:t>
            </a:r>
          </a:p>
          <a:p>
            <a:r>
              <a:rPr lang="en-US" dirty="0">
                <a:solidFill>
                  <a:srgbClr val="161A3E"/>
                </a:solidFill>
              </a:rPr>
              <a:t>MCP Architecture Diagram</a:t>
            </a:r>
          </a:p>
          <a:p>
            <a:r>
              <a:rPr lang="en-IN" dirty="0">
                <a:solidFill>
                  <a:srgbClr val="161A3E"/>
                </a:solidFill>
              </a:rPr>
              <a:t>MCP Communication &amp; Transport Layers</a:t>
            </a:r>
          </a:p>
          <a:p>
            <a:r>
              <a:rPr lang="en-IN" dirty="0">
                <a:solidFill>
                  <a:srgbClr val="161A3E"/>
                </a:solidFill>
              </a:rPr>
              <a:t>Step-by-Step MCP Workflow</a:t>
            </a:r>
          </a:p>
          <a:p>
            <a:r>
              <a:rPr lang="en-IN" dirty="0">
                <a:solidFill>
                  <a:srgbClr val="161A3E"/>
                </a:solidFill>
              </a:rPr>
              <a:t>MCP vs. Traditional APIs Comparison</a:t>
            </a:r>
          </a:p>
        </p:txBody>
      </p:sp>
    </p:spTree>
    <p:extLst>
      <p:ext uri="{BB962C8B-B14F-4D97-AF65-F5344CB8AC3E}">
        <p14:creationId xmlns:p14="http://schemas.microsoft.com/office/powerpoint/2010/main" val="227245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488C-2566-2AE7-0B21-AED1AF7490A2}"/>
              </a:ext>
            </a:extLst>
          </p:cNvPr>
          <p:cNvSpPr>
            <a:spLocks noGrp="1"/>
          </p:cNvSpPr>
          <p:nvPr>
            <p:ph type="title"/>
          </p:nvPr>
        </p:nvSpPr>
        <p:spPr>
          <a:xfrm>
            <a:off x="668490" y="559667"/>
            <a:ext cx="10828185" cy="708746"/>
          </a:xfrm>
        </p:spPr>
        <p:txBody>
          <a:bodyPr anchor="ctr">
            <a:normAutofit/>
          </a:bodyPr>
          <a:lstStyle/>
          <a:p>
            <a:r>
              <a:rPr lang="en-IN" dirty="0"/>
              <a:t>What is MCP?</a:t>
            </a:r>
            <a:endParaRPr lang="en-US" dirty="0"/>
          </a:p>
        </p:txBody>
      </p:sp>
      <p:sp>
        <p:nvSpPr>
          <p:cNvPr id="3" name="Content Placeholder 2">
            <a:extLst>
              <a:ext uri="{FF2B5EF4-FFF2-40B4-BE49-F238E27FC236}">
                <a16:creationId xmlns:a16="http://schemas.microsoft.com/office/drawing/2014/main" id="{C1717546-CB4A-183F-F30F-F70B3605FF84}"/>
              </a:ext>
            </a:extLst>
          </p:cNvPr>
          <p:cNvSpPr>
            <a:spLocks noGrp="1"/>
          </p:cNvSpPr>
          <p:nvPr>
            <p:ph sz="half" idx="1"/>
          </p:nvPr>
        </p:nvSpPr>
        <p:spPr>
          <a:xfrm>
            <a:off x="667306" y="1637868"/>
            <a:ext cx="10828185" cy="4454957"/>
          </a:xfrm>
        </p:spPr>
        <p:txBody>
          <a:bodyPr>
            <a:noAutofit/>
          </a:bodyPr>
          <a:lstStyle/>
          <a:p>
            <a:pPr>
              <a:lnSpc>
                <a:spcPct val="150000"/>
              </a:lnSpc>
            </a:pPr>
            <a:r>
              <a:rPr lang="en-IN" sz="2400" dirty="0"/>
              <a:t>MCP (Model Context Protocol) is an open standard for connecting AI agents (such as LLM-powered assistants) with external tools, databases, and applications, providing a uniform method for structured interactions and information retrieval</a:t>
            </a:r>
            <a:endParaRPr lang="en-IN" sz="2400" b="1" dirty="0"/>
          </a:p>
          <a:p>
            <a:pPr marL="0" indent="0">
              <a:lnSpc>
                <a:spcPct val="150000"/>
              </a:lnSpc>
              <a:buNone/>
            </a:pPr>
            <a:r>
              <a:rPr lang="en-IN" sz="2400" b="1" dirty="0"/>
              <a:t>Why MCP? The Challenge of Traditional AI Integrations</a:t>
            </a:r>
          </a:p>
          <a:p>
            <a:pPr>
              <a:lnSpc>
                <a:spcPct val="150000"/>
              </a:lnSpc>
            </a:pPr>
            <a:r>
              <a:rPr lang="en-IN" sz="2400" dirty="0"/>
              <a:t>Traditional integrations use static APIs, which lack runtime context awareness and dynamic tool discovery.</a:t>
            </a:r>
            <a:endParaRPr lang="en-US" sz="2400" dirty="0"/>
          </a:p>
          <a:p>
            <a:pPr>
              <a:lnSpc>
                <a:spcPct val="150000"/>
              </a:lnSpc>
            </a:pPr>
            <a:r>
              <a:rPr lang="en-IN" sz="2400" dirty="0"/>
              <a:t>MCP overcomes rigid endpoints by enabling agentic workflows adaptable on-the-fly.</a:t>
            </a:r>
            <a:endParaRPr lang="en-US" sz="2400" dirty="0"/>
          </a:p>
        </p:txBody>
      </p:sp>
    </p:spTree>
    <p:extLst>
      <p:ext uri="{BB962C8B-B14F-4D97-AF65-F5344CB8AC3E}">
        <p14:creationId xmlns:p14="http://schemas.microsoft.com/office/powerpoint/2010/main" val="18752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6701A-689B-8040-582A-97E320231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600EE-B5CF-C642-F071-67B358E78668}"/>
              </a:ext>
            </a:extLst>
          </p:cNvPr>
          <p:cNvSpPr>
            <a:spLocks noGrp="1"/>
          </p:cNvSpPr>
          <p:nvPr>
            <p:ph type="title"/>
          </p:nvPr>
        </p:nvSpPr>
        <p:spPr>
          <a:xfrm>
            <a:off x="668490" y="559667"/>
            <a:ext cx="10828185" cy="708746"/>
          </a:xfrm>
        </p:spPr>
        <p:txBody>
          <a:bodyPr anchor="ctr">
            <a:normAutofit/>
          </a:bodyPr>
          <a:lstStyle/>
          <a:p>
            <a:r>
              <a:rPr lang="en-IN" dirty="0"/>
              <a:t>MCP's Core Concepts</a:t>
            </a:r>
            <a:endParaRPr lang="en-US" dirty="0"/>
          </a:p>
        </p:txBody>
      </p:sp>
      <p:sp>
        <p:nvSpPr>
          <p:cNvPr id="3" name="Content Placeholder 2">
            <a:extLst>
              <a:ext uri="{FF2B5EF4-FFF2-40B4-BE49-F238E27FC236}">
                <a16:creationId xmlns:a16="http://schemas.microsoft.com/office/drawing/2014/main" id="{01262B45-A5AF-6476-DEAD-CFD27CB2489A}"/>
              </a:ext>
            </a:extLst>
          </p:cNvPr>
          <p:cNvSpPr>
            <a:spLocks noGrp="1"/>
          </p:cNvSpPr>
          <p:nvPr>
            <p:ph sz="half" idx="1"/>
          </p:nvPr>
        </p:nvSpPr>
        <p:spPr>
          <a:xfrm>
            <a:off x="667306" y="1637868"/>
            <a:ext cx="10829369" cy="4454957"/>
          </a:xfrm>
        </p:spPr>
        <p:txBody>
          <a:bodyPr>
            <a:noAutofit/>
          </a:bodyPr>
          <a:lstStyle/>
          <a:p>
            <a:pPr marL="0" indent="0">
              <a:lnSpc>
                <a:spcPct val="150000"/>
              </a:lnSpc>
              <a:buNone/>
            </a:pPr>
            <a:r>
              <a:rPr lang="en-IN" sz="2400" dirty="0"/>
              <a:t>Core elements:</a:t>
            </a:r>
          </a:p>
          <a:p>
            <a:pPr lvl="1">
              <a:lnSpc>
                <a:spcPct val="150000"/>
              </a:lnSpc>
            </a:pPr>
            <a:r>
              <a:rPr lang="en-IN" dirty="0"/>
              <a:t>Host: Main LLM application (e.g., IDE, chatbot)</a:t>
            </a:r>
          </a:p>
          <a:p>
            <a:pPr lvl="1">
              <a:lnSpc>
                <a:spcPct val="150000"/>
              </a:lnSpc>
            </a:pPr>
            <a:r>
              <a:rPr lang="en-IN" dirty="0"/>
              <a:t>Client: Bridge between Host and Server (1:1 connection)</a:t>
            </a:r>
          </a:p>
          <a:p>
            <a:pPr lvl="1">
              <a:lnSpc>
                <a:spcPct val="150000"/>
              </a:lnSpc>
            </a:pPr>
            <a:r>
              <a:rPr lang="en-IN" dirty="0"/>
              <a:t>Server: Offers tools, resources, prompts via schemas</a:t>
            </a:r>
          </a:p>
          <a:p>
            <a:pPr lvl="1">
              <a:lnSpc>
                <a:spcPct val="150000"/>
              </a:lnSpc>
            </a:pPr>
            <a:r>
              <a:rPr lang="en-IN" dirty="0"/>
              <a:t>Transport Layer: Handles data exchange.</a:t>
            </a:r>
          </a:p>
        </p:txBody>
      </p:sp>
    </p:spTree>
    <p:extLst>
      <p:ext uri="{BB962C8B-B14F-4D97-AF65-F5344CB8AC3E}">
        <p14:creationId xmlns:p14="http://schemas.microsoft.com/office/powerpoint/2010/main" val="460166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0D2D9-0B9F-8E11-1452-5B87850C51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ED07C-CF79-6847-391D-31BD15255E1A}"/>
              </a:ext>
            </a:extLst>
          </p:cNvPr>
          <p:cNvSpPr>
            <a:spLocks noGrp="1"/>
          </p:cNvSpPr>
          <p:nvPr>
            <p:ph type="title"/>
          </p:nvPr>
        </p:nvSpPr>
        <p:spPr>
          <a:xfrm>
            <a:off x="668493" y="559666"/>
            <a:ext cx="10828182" cy="708747"/>
          </a:xfrm>
        </p:spPr>
        <p:txBody>
          <a:bodyPr anchor="ctr">
            <a:normAutofit/>
          </a:bodyPr>
          <a:lstStyle/>
          <a:p>
            <a:r>
              <a:rPr lang="en-US" dirty="0"/>
              <a:t>MCP Architecture Diagram</a:t>
            </a:r>
          </a:p>
        </p:txBody>
      </p:sp>
      <p:pic>
        <p:nvPicPr>
          <p:cNvPr id="4" name="Content Placeholder 3">
            <a:extLst>
              <a:ext uri="{FF2B5EF4-FFF2-40B4-BE49-F238E27FC236}">
                <a16:creationId xmlns:a16="http://schemas.microsoft.com/office/drawing/2014/main" id="{A2F7003A-3622-8F74-165A-0D17527D49BF}"/>
              </a:ext>
            </a:extLst>
          </p:cNvPr>
          <p:cNvPicPr>
            <a:picLocks noGrp="1" noChangeAspect="1"/>
          </p:cNvPicPr>
          <p:nvPr>
            <p:ph idx="1"/>
          </p:nvPr>
        </p:nvPicPr>
        <p:blipFill>
          <a:blip r:embed="rId3"/>
          <a:stretch>
            <a:fillRect/>
          </a:stretch>
        </p:blipFill>
        <p:spPr>
          <a:xfrm>
            <a:off x="668493" y="1639165"/>
            <a:ext cx="10828182" cy="4453659"/>
          </a:xfrm>
          <a:prstGeom prst="rect">
            <a:avLst/>
          </a:prstGeom>
          <a:noFill/>
        </p:spPr>
      </p:pic>
    </p:spTree>
    <p:extLst>
      <p:ext uri="{BB962C8B-B14F-4D97-AF65-F5344CB8AC3E}">
        <p14:creationId xmlns:p14="http://schemas.microsoft.com/office/powerpoint/2010/main" val="1150211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21A42-B7AD-9440-CF38-8BF937C206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DD261-D230-2601-9908-7DB2C411325B}"/>
              </a:ext>
            </a:extLst>
          </p:cNvPr>
          <p:cNvSpPr>
            <a:spLocks noGrp="1"/>
          </p:cNvSpPr>
          <p:nvPr>
            <p:ph type="title"/>
          </p:nvPr>
        </p:nvSpPr>
        <p:spPr>
          <a:xfrm>
            <a:off x="668490" y="559667"/>
            <a:ext cx="10828185" cy="708746"/>
          </a:xfrm>
        </p:spPr>
        <p:txBody>
          <a:bodyPr anchor="ctr">
            <a:normAutofit/>
          </a:bodyPr>
          <a:lstStyle/>
          <a:p>
            <a:r>
              <a:rPr lang="en-IN" dirty="0"/>
              <a:t>MCP Communication &amp; Transport Layers</a:t>
            </a:r>
            <a:endParaRPr lang="en-US" dirty="0"/>
          </a:p>
        </p:txBody>
      </p:sp>
      <p:sp>
        <p:nvSpPr>
          <p:cNvPr id="3" name="Content Placeholder 2">
            <a:extLst>
              <a:ext uri="{FF2B5EF4-FFF2-40B4-BE49-F238E27FC236}">
                <a16:creationId xmlns:a16="http://schemas.microsoft.com/office/drawing/2014/main" id="{11E3F39D-E715-0373-F713-E29CBF0244BD}"/>
              </a:ext>
            </a:extLst>
          </p:cNvPr>
          <p:cNvSpPr>
            <a:spLocks noGrp="1"/>
          </p:cNvSpPr>
          <p:nvPr>
            <p:ph sz="half" idx="1"/>
          </p:nvPr>
        </p:nvSpPr>
        <p:spPr>
          <a:xfrm>
            <a:off x="667306" y="1637868"/>
            <a:ext cx="10829369" cy="4454957"/>
          </a:xfrm>
        </p:spPr>
        <p:txBody>
          <a:bodyPr>
            <a:noAutofit/>
          </a:bodyPr>
          <a:lstStyle/>
          <a:p>
            <a:pPr marL="0" indent="0">
              <a:lnSpc>
                <a:spcPct val="150000"/>
              </a:lnSpc>
              <a:buNone/>
            </a:pPr>
            <a:r>
              <a:rPr lang="en-IN" sz="2400" b="1" dirty="0"/>
              <a:t>Data Layer &amp; Protocol</a:t>
            </a:r>
          </a:p>
          <a:p>
            <a:pPr>
              <a:lnSpc>
                <a:spcPct val="150000"/>
              </a:lnSpc>
            </a:pPr>
            <a:r>
              <a:rPr lang="en-IN" sz="2400" dirty="0"/>
              <a:t>Communication uses JSON-RPC 2.0 for requests, responses, notifications.</a:t>
            </a:r>
            <a:endParaRPr lang="en-US" sz="2400" dirty="0"/>
          </a:p>
          <a:p>
            <a:pPr marL="0" indent="0">
              <a:lnSpc>
                <a:spcPct val="150000"/>
              </a:lnSpc>
              <a:buNone/>
            </a:pPr>
            <a:r>
              <a:rPr lang="en-IN" sz="2400" b="1" dirty="0"/>
              <a:t>Transport Layer Details</a:t>
            </a:r>
          </a:p>
          <a:p>
            <a:pPr>
              <a:lnSpc>
                <a:spcPct val="150000"/>
              </a:lnSpc>
            </a:pPr>
            <a:r>
              <a:rPr lang="en-IN" sz="2400" dirty="0"/>
              <a:t>Local (STDIO): Fast, direct communication on same machine.</a:t>
            </a:r>
          </a:p>
          <a:p>
            <a:pPr>
              <a:lnSpc>
                <a:spcPct val="150000"/>
              </a:lnSpc>
            </a:pPr>
            <a:r>
              <a:rPr lang="en-IN" sz="2400" dirty="0"/>
              <a:t>Remote (SSE/HTTP): Continuous, real-time updates across network; supports authentication (e.g., OAuth)</a:t>
            </a:r>
          </a:p>
        </p:txBody>
      </p:sp>
    </p:spTree>
    <p:extLst>
      <p:ext uri="{BB962C8B-B14F-4D97-AF65-F5344CB8AC3E}">
        <p14:creationId xmlns:p14="http://schemas.microsoft.com/office/powerpoint/2010/main" val="1600433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4CEDB-DDC2-26D0-A8F9-09F08253F0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F1AEF-898B-BE43-202F-6AADECEF69A9}"/>
              </a:ext>
            </a:extLst>
          </p:cNvPr>
          <p:cNvSpPr>
            <a:spLocks noGrp="1"/>
          </p:cNvSpPr>
          <p:nvPr>
            <p:ph type="title"/>
          </p:nvPr>
        </p:nvSpPr>
        <p:spPr>
          <a:xfrm>
            <a:off x="668490" y="559667"/>
            <a:ext cx="10828185" cy="708746"/>
          </a:xfrm>
        </p:spPr>
        <p:txBody>
          <a:bodyPr anchor="ctr">
            <a:normAutofit/>
          </a:bodyPr>
          <a:lstStyle/>
          <a:p>
            <a:r>
              <a:rPr lang="en-IN" dirty="0"/>
              <a:t>Step-by-Step MCP Workflow</a:t>
            </a:r>
            <a:endParaRPr lang="en-US" dirty="0"/>
          </a:p>
        </p:txBody>
      </p:sp>
      <p:sp>
        <p:nvSpPr>
          <p:cNvPr id="3" name="Content Placeholder 2">
            <a:extLst>
              <a:ext uri="{FF2B5EF4-FFF2-40B4-BE49-F238E27FC236}">
                <a16:creationId xmlns:a16="http://schemas.microsoft.com/office/drawing/2014/main" id="{1E0F5CB5-BEDC-7672-1883-68D2F854184B}"/>
              </a:ext>
            </a:extLst>
          </p:cNvPr>
          <p:cNvSpPr>
            <a:spLocks noGrp="1"/>
          </p:cNvSpPr>
          <p:nvPr>
            <p:ph sz="half" idx="1"/>
          </p:nvPr>
        </p:nvSpPr>
        <p:spPr>
          <a:xfrm>
            <a:off x="667306" y="1637868"/>
            <a:ext cx="10829369" cy="4454957"/>
          </a:xfrm>
        </p:spPr>
        <p:txBody>
          <a:bodyPr>
            <a:noAutofit/>
          </a:bodyPr>
          <a:lstStyle/>
          <a:p>
            <a:pPr marL="342900" lvl="0" indent="-342900">
              <a:lnSpc>
                <a:spcPct val="150000"/>
              </a:lnSpc>
            </a:pPr>
            <a:r>
              <a:rPr lang="en-IN" sz="2400" dirty="0"/>
              <a:t>Host initializes client, client connects to server.</a:t>
            </a:r>
          </a:p>
          <a:p>
            <a:pPr marL="342900" indent="-342900">
              <a:lnSpc>
                <a:spcPct val="150000"/>
              </a:lnSpc>
            </a:pPr>
            <a:r>
              <a:rPr lang="en-IN" sz="2400" dirty="0"/>
              <a:t>Capability negotiation: What tools/resources are available?</a:t>
            </a:r>
            <a:endParaRPr lang="en-US" sz="2400" dirty="0"/>
          </a:p>
          <a:p>
            <a:pPr marL="342900" indent="-342900">
              <a:lnSpc>
                <a:spcPct val="150000"/>
              </a:lnSpc>
            </a:pPr>
            <a:r>
              <a:rPr lang="en-IN" sz="2400" dirty="0"/>
              <a:t>Agent/LLM receives user query.</a:t>
            </a:r>
            <a:endParaRPr lang="en-US" sz="2400" dirty="0"/>
          </a:p>
          <a:p>
            <a:pPr marL="342900" indent="-342900">
              <a:lnSpc>
                <a:spcPct val="150000"/>
              </a:lnSpc>
            </a:pPr>
            <a:r>
              <a:rPr lang="en-IN" sz="2400" dirty="0"/>
              <a:t>Tool/resource discovery, execution initiated by client.</a:t>
            </a:r>
            <a:endParaRPr lang="en-US" sz="2400" dirty="0"/>
          </a:p>
          <a:p>
            <a:pPr marL="342900" indent="-342900">
              <a:lnSpc>
                <a:spcPct val="150000"/>
              </a:lnSpc>
            </a:pPr>
            <a:r>
              <a:rPr lang="en-IN" sz="2400" dirty="0"/>
              <a:t>Server processes and returns response (can interact with DBs, APIs, etc.)</a:t>
            </a:r>
            <a:endParaRPr lang="en-US" sz="2400" dirty="0"/>
          </a:p>
          <a:p>
            <a:pPr marL="342900" indent="-342900">
              <a:lnSpc>
                <a:spcPct val="150000"/>
              </a:lnSpc>
            </a:pPr>
            <a:r>
              <a:rPr lang="en-IN" sz="2400" dirty="0"/>
              <a:t>Results injected into LLM prompt; natural language or structured result sent to user.</a:t>
            </a:r>
            <a:endParaRPr lang="en-US" sz="2400" dirty="0"/>
          </a:p>
        </p:txBody>
      </p:sp>
    </p:spTree>
    <p:extLst>
      <p:ext uri="{BB962C8B-B14F-4D97-AF65-F5344CB8AC3E}">
        <p14:creationId xmlns:p14="http://schemas.microsoft.com/office/powerpoint/2010/main" val="2598966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81DDD-3445-711F-C3AF-13A5AA850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6B83B4-70BF-3BAE-F219-C57C6D551A6E}"/>
              </a:ext>
            </a:extLst>
          </p:cNvPr>
          <p:cNvSpPr>
            <a:spLocks noGrp="1"/>
          </p:cNvSpPr>
          <p:nvPr>
            <p:ph type="title"/>
          </p:nvPr>
        </p:nvSpPr>
        <p:spPr>
          <a:xfrm>
            <a:off x="668490" y="559666"/>
            <a:ext cx="10828184" cy="708747"/>
          </a:xfrm>
        </p:spPr>
        <p:txBody>
          <a:bodyPr vert="horz" lIns="0" tIns="0" rIns="0" bIns="0" rtlCol="0" anchor="ctr">
            <a:normAutofit/>
          </a:bodyPr>
          <a:lstStyle/>
          <a:p>
            <a:r>
              <a:rPr lang="en-IN" dirty="0"/>
              <a:t>MCP vs. Traditional APIs Comparison</a:t>
            </a:r>
            <a:endParaRPr lang="en-US" b="1" kern="1200" dirty="0">
              <a:latin typeface="Calibri" panose="020F0502020204030204" pitchFamily="34" charset="0"/>
              <a:ea typeface="+mj-ea"/>
              <a:cs typeface="+mj-cs"/>
            </a:endParaRPr>
          </a:p>
        </p:txBody>
      </p:sp>
      <p:graphicFrame>
        <p:nvGraphicFramePr>
          <p:cNvPr id="10" name="Content Placeholder 9">
            <a:extLst>
              <a:ext uri="{FF2B5EF4-FFF2-40B4-BE49-F238E27FC236}">
                <a16:creationId xmlns:a16="http://schemas.microsoft.com/office/drawing/2014/main" id="{F5EDDD86-7C56-ED9D-8DC2-A4AFCA13B077}"/>
              </a:ext>
            </a:extLst>
          </p:cNvPr>
          <p:cNvGraphicFramePr>
            <a:graphicFrameLocks noGrp="1"/>
          </p:cNvGraphicFramePr>
          <p:nvPr>
            <p:ph sz="half" idx="2"/>
            <p:extLst>
              <p:ext uri="{D42A27DB-BD31-4B8C-83A1-F6EECF244321}">
                <p14:modId xmlns:p14="http://schemas.microsoft.com/office/powerpoint/2010/main" val="3521206273"/>
              </p:ext>
            </p:extLst>
          </p:nvPr>
        </p:nvGraphicFramePr>
        <p:xfrm>
          <a:off x="658814" y="1628773"/>
          <a:ext cx="10837860" cy="4464050"/>
        </p:xfrm>
        <a:graphic>
          <a:graphicData uri="http://schemas.openxmlformats.org/drawingml/2006/table">
            <a:tbl>
              <a:tblPr>
                <a:tableStyleId>{5940675A-B579-460E-94D1-54222C63F5DA}</a:tableStyleId>
              </a:tblPr>
              <a:tblGrid>
                <a:gridCol w="3612620">
                  <a:extLst>
                    <a:ext uri="{9D8B030D-6E8A-4147-A177-3AD203B41FA5}">
                      <a16:colId xmlns:a16="http://schemas.microsoft.com/office/drawing/2014/main" val="1132745082"/>
                    </a:ext>
                  </a:extLst>
                </a:gridCol>
                <a:gridCol w="3612620">
                  <a:extLst>
                    <a:ext uri="{9D8B030D-6E8A-4147-A177-3AD203B41FA5}">
                      <a16:colId xmlns:a16="http://schemas.microsoft.com/office/drawing/2014/main" val="3613303806"/>
                    </a:ext>
                  </a:extLst>
                </a:gridCol>
                <a:gridCol w="3612620">
                  <a:extLst>
                    <a:ext uri="{9D8B030D-6E8A-4147-A177-3AD203B41FA5}">
                      <a16:colId xmlns:a16="http://schemas.microsoft.com/office/drawing/2014/main" val="1756920807"/>
                    </a:ext>
                  </a:extLst>
                </a:gridCol>
              </a:tblGrid>
              <a:tr h="701939">
                <a:tc>
                  <a:txBody>
                    <a:bodyPr/>
                    <a:lstStyle/>
                    <a:p>
                      <a:pPr>
                        <a:buNone/>
                      </a:pPr>
                      <a:r>
                        <a:rPr lang="en-IN" sz="2400" b="1" dirty="0">
                          <a:solidFill>
                            <a:srgbClr val="161A3E"/>
                          </a:solidFill>
                        </a:rPr>
                        <a:t>Feature</a:t>
                      </a:r>
                      <a:endParaRPr lang="en-IN" sz="2400" dirty="0">
                        <a:solidFill>
                          <a:srgbClr val="161A3E"/>
                        </a:solidFill>
                      </a:endParaRPr>
                    </a:p>
                  </a:txBody>
                  <a:tcPr marL="91400" marR="91400" marT="45700" marB="45700" anchor="ctr">
                    <a:solidFill>
                      <a:schemeClr val="tx1">
                        <a:lumMod val="10000"/>
                        <a:lumOff val="90000"/>
                      </a:schemeClr>
                    </a:solidFill>
                  </a:tcPr>
                </a:tc>
                <a:tc>
                  <a:txBody>
                    <a:bodyPr/>
                    <a:lstStyle/>
                    <a:p>
                      <a:pPr>
                        <a:buNone/>
                      </a:pPr>
                      <a:r>
                        <a:rPr lang="en-IN" sz="2400" b="1" dirty="0">
                          <a:solidFill>
                            <a:srgbClr val="161A3E"/>
                          </a:solidFill>
                        </a:rPr>
                        <a:t>MCP</a:t>
                      </a:r>
                      <a:endParaRPr lang="en-IN" sz="2400" dirty="0">
                        <a:solidFill>
                          <a:srgbClr val="161A3E"/>
                        </a:solidFill>
                      </a:endParaRPr>
                    </a:p>
                  </a:txBody>
                  <a:tcPr marL="91400" marR="91400" marT="45700" marB="45700" anchor="ctr">
                    <a:solidFill>
                      <a:schemeClr val="tx1">
                        <a:lumMod val="10000"/>
                        <a:lumOff val="90000"/>
                      </a:schemeClr>
                    </a:solidFill>
                  </a:tcPr>
                </a:tc>
                <a:tc>
                  <a:txBody>
                    <a:bodyPr/>
                    <a:lstStyle/>
                    <a:p>
                      <a:pPr>
                        <a:buNone/>
                      </a:pPr>
                      <a:r>
                        <a:rPr lang="en-IN" sz="2400" b="1" dirty="0">
                          <a:solidFill>
                            <a:srgbClr val="161A3E"/>
                          </a:solidFill>
                        </a:rPr>
                        <a:t>Traditional APIs</a:t>
                      </a:r>
                      <a:endParaRPr lang="en-IN" sz="2400" dirty="0">
                        <a:solidFill>
                          <a:srgbClr val="161A3E"/>
                        </a:solidFill>
                      </a:endParaRPr>
                    </a:p>
                  </a:txBody>
                  <a:tcPr marL="91400" marR="91400" marT="45700" marB="45700" anchor="ctr">
                    <a:solidFill>
                      <a:schemeClr val="tx1">
                        <a:lumMod val="10000"/>
                        <a:lumOff val="90000"/>
                      </a:schemeClr>
                    </a:solidFill>
                  </a:tcPr>
                </a:tc>
                <a:extLst>
                  <a:ext uri="{0D108BD9-81ED-4DB2-BD59-A6C34878D82A}">
                    <a16:rowId xmlns:a16="http://schemas.microsoft.com/office/drawing/2014/main" val="3758380092"/>
                  </a:ext>
                </a:extLst>
              </a:tr>
              <a:tr h="828147">
                <a:tc>
                  <a:txBody>
                    <a:bodyPr/>
                    <a:lstStyle/>
                    <a:p>
                      <a:pPr>
                        <a:buNone/>
                      </a:pPr>
                      <a:r>
                        <a:rPr lang="en-IN" sz="2400" dirty="0">
                          <a:solidFill>
                            <a:srgbClr val="161A3E"/>
                          </a:solidFill>
                        </a:rPr>
                        <a:t>Integration</a:t>
                      </a:r>
                    </a:p>
                  </a:txBody>
                  <a:tcPr marL="91400" marR="91400" marT="45700" marB="45700" anchor="ctr"/>
                </a:tc>
                <a:tc>
                  <a:txBody>
                    <a:bodyPr/>
                    <a:lstStyle/>
                    <a:p>
                      <a:pPr>
                        <a:buNone/>
                      </a:pPr>
                      <a:r>
                        <a:rPr lang="en-IN" sz="2400">
                          <a:solidFill>
                            <a:srgbClr val="161A3E"/>
                          </a:solidFill>
                        </a:rPr>
                        <a:t>Dynamic, adaptive, context-aware</a:t>
                      </a:r>
                    </a:p>
                  </a:txBody>
                  <a:tcPr marL="91400" marR="91400" marT="45700" marB="45700" anchor="ctr"/>
                </a:tc>
                <a:tc>
                  <a:txBody>
                    <a:bodyPr/>
                    <a:lstStyle/>
                    <a:p>
                      <a:pPr>
                        <a:buNone/>
                      </a:pPr>
                      <a:r>
                        <a:rPr lang="en-IN" sz="2400">
                          <a:solidFill>
                            <a:srgbClr val="161A3E"/>
                          </a:solidFill>
                        </a:rPr>
                        <a:t>Static, rigid</a:t>
                      </a:r>
                    </a:p>
                  </a:txBody>
                  <a:tcPr marL="91400" marR="91400" marT="45700" marB="45700" anchor="ctr"/>
                </a:tc>
                <a:extLst>
                  <a:ext uri="{0D108BD9-81ED-4DB2-BD59-A6C34878D82A}">
                    <a16:rowId xmlns:a16="http://schemas.microsoft.com/office/drawing/2014/main" val="1091721770"/>
                  </a:ext>
                </a:extLst>
              </a:tr>
              <a:tr h="828147">
                <a:tc>
                  <a:txBody>
                    <a:bodyPr/>
                    <a:lstStyle/>
                    <a:p>
                      <a:pPr>
                        <a:buNone/>
                      </a:pPr>
                      <a:r>
                        <a:rPr lang="en-IN" sz="2400" dirty="0">
                          <a:solidFill>
                            <a:srgbClr val="161A3E"/>
                          </a:solidFill>
                        </a:rPr>
                        <a:t>Discovery</a:t>
                      </a:r>
                    </a:p>
                  </a:txBody>
                  <a:tcPr marL="91400" marR="91400" marT="45700" marB="45700" anchor="ctr"/>
                </a:tc>
                <a:tc>
                  <a:txBody>
                    <a:bodyPr/>
                    <a:lstStyle/>
                    <a:p>
                      <a:pPr>
                        <a:buNone/>
                      </a:pPr>
                      <a:r>
                        <a:rPr lang="en-IN" sz="2400" dirty="0">
                          <a:solidFill>
                            <a:srgbClr val="161A3E"/>
                          </a:solidFill>
                        </a:rPr>
                        <a:t>Runtime self-describing schemas</a:t>
                      </a:r>
                    </a:p>
                  </a:txBody>
                  <a:tcPr marL="91400" marR="91400" marT="45700" marB="45700" anchor="ctr"/>
                </a:tc>
                <a:tc>
                  <a:txBody>
                    <a:bodyPr/>
                    <a:lstStyle/>
                    <a:p>
                      <a:pPr>
                        <a:buNone/>
                      </a:pPr>
                      <a:r>
                        <a:rPr lang="en-IN" sz="2400" dirty="0">
                          <a:solidFill>
                            <a:srgbClr val="161A3E"/>
                          </a:solidFill>
                        </a:rPr>
                        <a:t>Manual coding</a:t>
                      </a:r>
                    </a:p>
                  </a:txBody>
                  <a:tcPr marL="91400" marR="91400" marT="45700" marB="45700" anchor="ctr"/>
                </a:tc>
                <a:extLst>
                  <a:ext uri="{0D108BD9-81ED-4DB2-BD59-A6C34878D82A}">
                    <a16:rowId xmlns:a16="http://schemas.microsoft.com/office/drawing/2014/main" val="1313953366"/>
                  </a:ext>
                </a:extLst>
              </a:tr>
              <a:tr h="701939">
                <a:tc>
                  <a:txBody>
                    <a:bodyPr/>
                    <a:lstStyle/>
                    <a:p>
                      <a:pPr>
                        <a:buNone/>
                      </a:pPr>
                      <a:r>
                        <a:rPr lang="en-IN" sz="2400" dirty="0">
                          <a:solidFill>
                            <a:srgbClr val="161A3E"/>
                          </a:solidFill>
                        </a:rPr>
                        <a:t>Streaming</a:t>
                      </a:r>
                    </a:p>
                  </a:txBody>
                  <a:tcPr marL="91400" marR="91400" marT="45700" marB="45700" anchor="ctr"/>
                </a:tc>
                <a:tc>
                  <a:txBody>
                    <a:bodyPr/>
                    <a:lstStyle/>
                    <a:p>
                      <a:pPr>
                        <a:buNone/>
                      </a:pPr>
                      <a:r>
                        <a:rPr lang="en-IN" sz="2400" dirty="0">
                          <a:solidFill>
                            <a:srgbClr val="161A3E"/>
                          </a:solidFill>
                        </a:rPr>
                        <a:t>Yes</a:t>
                      </a:r>
                    </a:p>
                  </a:txBody>
                  <a:tcPr marL="91400" marR="91400" marT="45700" marB="45700" anchor="ctr"/>
                </a:tc>
                <a:tc>
                  <a:txBody>
                    <a:bodyPr/>
                    <a:lstStyle/>
                    <a:p>
                      <a:pPr>
                        <a:buNone/>
                      </a:pPr>
                      <a:r>
                        <a:rPr lang="en-IN" sz="2400">
                          <a:solidFill>
                            <a:srgbClr val="161A3E"/>
                          </a:solidFill>
                        </a:rPr>
                        <a:t>Rare</a:t>
                      </a:r>
                    </a:p>
                  </a:txBody>
                  <a:tcPr marL="91400" marR="91400" marT="45700" marB="45700" anchor="ctr"/>
                </a:tc>
                <a:extLst>
                  <a:ext uri="{0D108BD9-81ED-4DB2-BD59-A6C34878D82A}">
                    <a16:rowId xmlns:a16="http://schemas.microsoft.com/office/drawing/2014/main" val="3345587092"/>
                  </a:ext>
                </a:extLst>
              </a:tr>
              <a:tr h="701939">
                <a:tc>
                  <a:txBody>
                    <a:bodyPr/>
                    <a:lstStyle/>
                    <a:p>
                      <a:pPr>
                        <a:buNone/>
                      </a:pPr>
                      <a:r>
                        <a:rPr lang="en-IN" sz="2400">
                          <a:solidFill>
                            <a:srgbClr val="161A3E"/>
                          </a:solidFill>
                        </a:rPr>
                        <a:t>Toolset</a:t>
                      </a:r>
                    </a:p>
                  </a:txBody>
                  <a:tcPr marL="91400" marR="91400" marT="45700" marB="45700" anchor="ctr"/>
                </a:tc>
                <a:tc>
                  <a:txBody>
                    <a:bodyPr/>
                    <a:lstStyle/>
                    <a:p>
                      <a:pPr>
                        <a:buNone/>
                      </a:pPr>
                      <a:r>
                        <a:rPr lang="en-IN" sz="2400" dirty="0">
                          <a:solidFill>
                            <a:srgbClr val="161A3E"/>
                          </a:solidFill>
                        </a:rPr>
                        <a:t>Expands based on context</a:t>
                      </a:r>
                    </a:p>
                  </a:txBody>
                  <a:tcPr marL="91400" marR="91400" marT="45700" marB="45700" anchor="ctr"/>
                </a:tc>
                <a:tc>
                  <a:txBody>
                    <a:bodyPr/>
                    <a:lstStyle/>
                    <a:p>
                      <a:pPr>
                        <a:buNone/>
                      </a:pPr>
                      <a:r>
                        <a:rPr lang="en-IN" sz="2400">
                          <a:solidFill>
                            <a:srgbClr val="161A3E"/>
                          </a:solidFill>
                        </a:rPr>
                        <a:t>Predefined at design time</a:t>
                      </a:r>
                    </a:p>
                  </a:txBody>
                  <a:tcPr marL="91400" marR="91400" marT="45700" marB="45700" anchor="ctr"/>
                </a:tc>
                <a:extLst>
                  <a:ext uri="{0D108BD9-81ED-4DB2-BD59-A6C34878D82A}">
                    <a16:rowId xmlns:a16="http://schemas.microsoft.com/office/drawing/2014/main" val="3169488706"/>
                  </a:ext>
                </a:extLst>
              </a:tr>
              <a:tr h="701939">
                <a:tc>
                  <a:txBody>
                    <a:bodyPr/>
                    <a:lstStyle/>
                    <a:p>
                      <a:pPr>
                        <a:buNone/>
                      </a:pPr>
                      <a:r>
                        <a:rPr lang="en-IN" sz="2400">
                          <a:solidFill>
                            <a:srgbClr val="161A3E"/>
                          </a:solidFill>
                        </a:rPr>
                        <a:t>Designed for AI models</a:t>
                      </a:r>
                    </a:p>
                  </a:txBody>
                  <a:tcPr marL="91400" marR="91400" marT="45700" marB="45700" anchor="ctr"/>
                </a:tc>
                <a:tc>
                  <a:txBody>
                    <a:bodyPr/>
                    <a:lstStyle/>
                    <a:p>
                      <a:pPr>
                        <a:buNone/>
                      </a:pPr>
                      <a:r>
                        <a:rPr lang="en-IN" sz="2400">
                          <a:solidFill>
                            <a:srgbClr val="161A3E"/>
                          </a:solidFill>
                        </a:rPr>
                        <a:t>Yes</a:t>
                      </a:r>
                    </a:p>
                  </a:txBody>
                  <a:tcPr marL="91400" marR="91400" marT="45700" marB="45700" anchor="ctr"/>
                </a:tc>
                <a:tc>
                  <a:txBody>
                    <a:bodyPr/>
                    <a:lstStyle/>
                    <a:p>
                      <a:pPr>
                        <a:buNone/>
                      </a:pPr>
                      <a:r>
                        <a:rPr lang="en-IN" sz="2400" dirty="0">
                          <a:solidFill>
                            <a:srgbClr val="161A3E"/>
                          </a:solidFill>
                        </a:rPr>
                        <a:t>No</a:t>
                      </a:r>
                    </a:p>
                  </a:txBody>
                  <a:tcPr marL="91400" marR="91400" marT="45700" marB="45700" anchor="ctr"/>
                </a:tc>
                <a:extLst>
                  <a:ext uri="{0D108BD9-81ED-4DB2-BD59-A6C34878D82A}">
                    <a16:rowId xmlns:a16="http://schemas.microsoft.com/office/drawing/2014/main" val="2527331577"/>
                  </a:ext>
                </a:extLst>
              </a:tr>
            </a:tbl>
          </a:graphicData>
        </a:graphic>
      </p:graphicFrame>
    </p:spTree>
    <p:extLst>
      <p:ext uri="{BB962C8B-B14F-4D97-AF65-F5344CB8AC3E}">
        <p14:creationId xmlns:p14="http://schemas.microsoft.com/office/powerpoint/2010/main" val="916738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MCP Hands On</a:t>
            </a:r>
            <a:r>
              <a:rPr dirty="0"/>
              <a:t>– Outcomes</a:t>
            </a:r>
          </a:p>
        </p:txBody>
      </p:sp>
      <p:sp>
        <p:nvSpPr>
          <p:cNvPr id="3" name="Content Placeholder 2"/>
          <p:cNvSpPr>
            <a:spLocks noGrp="1"/>
          </p:cNvSpPr>
          <p:nvPr>
            <p:ph idx="1"/>
          </p:nvPr>
        </p:nvSpPr>
        <p:spPr>
          <a:xfrm>
            <a:off x="668945" y="1635319"/>
            <a:ext cx="10834234" cy="4398066"/>
          </a:xfrm>
        </p:spPr>
        <p:txBody>
          <a:bodyPr>
            <a:normAutofit/>
          </a:bodyPr>
          <a:lstStyle/>
          <a:p>
            <a:r>
              <a:rPr sz="2400" dirty="0"/>
              <a:t>Explain what MCP is and where it fits in the agentic AI stack.</a:t>
            </a:r>
          </a:p>
          <a:p>
            <a:r>
              <a:rPr sz="2400" dirty="0"/>
              <a:t>Use core MCP vocabulary: host, client, server, tools, resources, prompts, transport.</a:t>
            </a:r>
          </a:p>
          <a:p>
            <a:r>
              <a:rPr sz="2400" dirty="0"/>
              <a:t>Read an MCP architecture diagram and describe the end-to-end request flow.</a:t>
            </a:r>
          </a:p>
          <a:p>
            <a:r>
              <a:rPr sz="2400" dirty="0"/>
              <a:t>Run a simple MCP server and call its tools.</a:t>
            </a:r>
          </a:p>
          <a:p>
            <a:r>
              <a:rPr sz="2400" dirty="0"/>
              <a:t>Make a small change to an MCP server (e.g., add a new tool).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8884" y="549275"/>
            <a:ext cx="10834234" cy="719137"/>
          </a:xfrm>
        </p:spPr>
        <p:txBody>
          <a:bodyPr/>
          <a:lstStyle/>
          <a:p>
            <a:r>
              <a:rPr dirty="0"/>
              <a:t>Recap – Agents &amp; Tools</a:t>
            </a:r>
          </a:p>
        </p:txBody>
      </p:sp>
      <p:sp>
        <p:nvSpPr>
          <p:cNvPr id="3" name="Content Placeholder 2"/>
          <p:cNvSpPr>
            <a:spLocks noGrp="1"/>
          </p:cNvSpPr>
          <p:nvPr>
            <p:ph idx="1"/>
          </p:nvPr>
        </p:nvSpPr>
        <p:spPr>
          <a:xfrm>
            <a:off x="658813" y="1653759"/>
            <a:ext cx="10834234" cy="4439065"/>
          </a:xfrm>
        </p:spPr>
        <p:txBody>
          <a:bodyPr>
            <a:normAutofit/>
          </a:bodyPr>
          <a:lstStyle/>
          <a:p>
            <a:r>
              <a:rPr sz="2400" dirty="0"/>
              <a:t>Agent = policy/brain + memory + tools + goals.</a:t>
            </a:r>
          </a:p>
          <a:p>
            <a:r>
              <a:rPr sz="2400" dirty="0"/>
              <a:t>Tools are external actions an agent can take (APIs, DB queries, file access).</a:t>
            </a:r>
          </a:p>
          <a:p>
            <a:r>
              <a:rPr sz="2400" dirty="0"/>
              <a:t>MCP </a:t>
            </a:r>
            <a:r>
              <a:rPr sz="2400" dirty="0" err="1"/>
              <a:t>standardises</a:t>
            </a:r>
            <a:r>
              <a:rPr sz="2400" dirty="0"/>
              <a:t> how agents talk to tools and data sources.</a:t>
            </a:r>
          </a:p>
          <a:p>
            <a:r>
              <a:rPr sz="2400" dirty="0"/>
              <a:t>In this module we focus on MCP servers that expose tools to LLM-based agents.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MCP Lifecycle – High-Level</a:t>
            </a:r>
          </a:p>
        </p:txBody>
      </p:sp>
      <p:sp>
        <p:nvSpPr>
          <p:cNvPr id="3" name="Content Placeholder 2"/>
          <p:cNvSpPr>
            <a:spLocks noGrp="1"/>
          </p:cNvSpPr>
          <p:nvPr>
            <p:ph idx="1"/>
          </p:nvPr>
        </p:nvSpPr>
        <p:spPr/>
        <p:txBody>
          <a:bodyPr/>
          <a:lstStyle/>
          <a:p>
            <a:r>
              <a:t>1. Startup: host launches an MCP client and starts one or more MCP servers.</a:t>
            </a:r>
          </a:p>
          <a:p>
            <a:r>
              <a:t>2. Capability negotiation: client discovers tools/resources/prompts each server provides.</a:t>
            </a:r>
          </a:p>
          <a:p>
            <a:r>
              <a:t>3. User request: user asks a question in the host (IDE, chat interface, etc.).</a:t>
            </a:r>
          </a:p>
          <a:p>
            <a:r>
              <a:t>4. Tool execution: client sends a structured request; server runs underlying business logic.</a:t>
            </a:r>
          </a:p>
          <a:p>
            <a:r>
              <a:t>5. Response: results return to the host and are injected into the LLM’s context.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945" y="559214"/>
            <a:ext cx="10834234" cy="709199"/>
          </a:xfrm>
        </p:spPr>
        <p:txBody>
          <a:bodyPr/>
          <a:lstStyle/>
          <a:p>
            <a:r>
              <a:rPr dirty="0"/>
              <a:t>JSON-RPC in MCP – Simplified Example</a:t>
            </a:r>
          </a:p>
        </p:txBody>
      </p:sp>
      <p:sp>
        <p:nvSpPr>
          <p:cNvPr id="3" name="Content Placeholder 2"/>
          <p:cNvSpPr>
            <a:spLocks noGrp="1"/>
          </p:cNvSpPr>
          <p:nvPr>
            <p:ph idx="1"/>
          </p:nvPr>
        </p:nvSpPr>
        <p:spPr>
          <a:xfrm>
            <a:off x="668945" y="1635319"/>
            <a:ext cx="10834234" cy="4457506"/>
          </a:xfrm>
        </p:spPr>
        <p:txBody>
          <a:bodyPr>
            <a:normAutofit fontScale="85000" lnSpcReduction="20000"/>
          </a:bodyPr>
          <a:lstStyle/>
          <a:p>
            <a:pPr marL="0" indent="0">
              <a:buNone/>
            </a:pPr>
            <a:r>
              <a:rPr sz="1000" dirty="0">
                <a:latin typeface="Consolas"/>
              </a:rPr>
              <a:t>Request (conceptual):
{
  "</a:t>
            </a:r>
            <a:r>
              <a:rPr sz="1000" dirty="0" err="1">
                <a:latin typeface="Consolas"/>
              </a:rPr>
              <a:t>jsonrpc</a:t>
            </a:r>
            <a:r>
              <a:rPr sz="1000" dirty="0">
                <a:latin typeface="Consolas"/>
              </a:rPr>
              <a:t>": "2.0",
  "id": 1,
  "method": "tools/call",
  "params": {
    "name": "</a:t>
            </a:r>
            <a:r>
              <a:rPr sz="1000" dirty="0" err="1">
                <a:latin typeface="Consolas"/>
              </a:rPr>
              <a:t>get_leave_balance</a:t>
            </a:r>
            <a:r>
              <a:rPr sz="1000" dirty="0">
                <a:latin typeface="Consolas"/>
              </a:rPr>
              <a:t>",
    "arguments": { "</a:t>
            </a:r>
            <a:r>
              <a:rPr sz="1000" dirty="0" err="1">
                <a:latin typeface="Consolas"/>
              </a:rPr>
              <a:t>employee_id</a:t>
            </a:r>
            <a:r>
              <a:rPr sz="1000" dirty="0">
                <a:latin typeface="Consolas"/>
              </a:rPr>
              <a:t>": "E001" }
  }
}
Response (conceptual):
{
  "</a:t>
            </a:r>
            <a:r>
              <a:rPr sz="1000" dirty="0" err="1">
                <a:latin typeface="Consolas"/>
              </a:rPr>
              <a:t>jsonrpc</a:t>
            </a:r>
            <a:r>
              <a:rPr sz="1000" dirty="0">
                <a:latin typeface="Consolas"/>
              </a:rPr>
              <a:t>": "2.0",
  "id": 1,
  "result": {
    "content": "E001 has 18 leave days remaining."
  }
}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945" y="559215"/>
            <a:ext cx="10834234" cy="709198"/>
          </a:xfrm>
        </p:spPr>
        <p:txBody>
          <a:bodyPr/>
          <a:lstStyle/>
          <a:p>
            <a:r>
              <a:rPr dirty="0"/>
              <a:t>Architecture → Code: </a:t>
            </a:r>
            <a:r>
              <a:rPr dirty="0" err="1"/>
              <a:t>LeaveManager</a:t>
            </a:r>
            <a:r>
              <a:rPr dirty="0"/>
              <a:t> Server</a:t>
            </a:r>
          </a:p>
        </p:txBody>
      </p:sp>
      <p:sp>
        <p:nvSpPr>
          <p:cNvPr id="3" name="Content Placeholder 2"/>
          <p:cNvSpPr>
            <a:spLocks noGrp="1"/>
          </p:cNvSpPr>
          <p:nvPr>
            <p:ph idx="1"/>
          </p:nvPr>
        </p:nvSpPr>
        <p:spPr>
          <a:xfrm>
            <a:off x="668945" y="1635319"/>
            <a:ext cx="10834234" cy="4457506"/>
          </a:xfrm>
        </p:spPr>
        <p:txBody>
          <a:bodyPr>
            <a:normAutofit/>
          </a:bodyPr>
          <a:lstStyle/>
          <a:p>
            <a:pPr>
              <a:spcBef>
                <a:spcPts val="600"/>
              </a:spcBef>
              <a:spcAft>
                <a:spcPts val="600"/>
              </a:spcAft>
            </a:pPr>
            <a:r>
              <a:rPr sz="2400" dirty="0"/>
              <a:t>Server: </a:t>
            </a:r>
            <a:r>
              <a:rPr sz="2400" dirty="0" err="1"/>
              <a:t>FastMCP</a:t>
            </a:r>
            <a:r>
              <a:rPr sz="2400" dirty="0"/>
              <a:t>('</a:t>
            </a:r>
            <a:r>
              <a:rPr sz="2400" dirty="0" err="1"/>
              <a:t>LeaveManager</a:t>
            </a:r>
            <a:r>
              <a:rPr sz="2400" dirty="0"/>
              <a:t>') creates a named MCP server instance.</a:t>
            </a:r>
          </a:p>
          <a:p>
            <a:pPr>
              <a:spcBef>
                <a:spcPts val="600"/>
              </a:spcBef>
              <a:spcAft>
                <a:spcPts val="600"/>
              </a:spcAft>
            </a:pPr>
            <a:r>
              <a:rPr sz="2400" dirty="0"/>
              <a:t>Tools: </a:t>
            </a:r>
            <a:r>
              <a:rPr sz="2400" dirty="0" err="1"/>
              <a:t>get_leave_balance</a:t>
            </a:r>
            <a:r>
              <a:rPr sz="2400" dirty="0"/>
              <a:t>, </a:t>
            </a:r>
            <a:r>
              <a:rPr sz="2400" dirty="0" err="1"/>
              <a:t>apply_leave</a:t>
            </a:r>
            <a:r>
              <a:rPr sz="2400" dirty="0"/>
              <a:t>, </a:t>
            </a:r>
            <a:r>
              <a:rPr sz="2400" dirty="0" err="1"/>
              <a:t>get_leave_history</a:t>
            </a:r>
            <a:r>
              <a:rPr sz="2400" dirty="0"/>
              <a:t> operate on in-memory leave data.</a:t>
            </a:r>
          </a:p>
          <a:p>
            <a:pPr>
              <a:spcBef>
                <a:spcPts val="600"/>
              </a:spcBef>
              <a:spcAft>
                <a:spcPts val="600"/>
              </a:spcAft>
            </a:pPr>
            <a:r>
              <a:rPr sz="2400" dirty="0"/>
              <a:t>Resource: greeting://{name} – small reusable context string for greetings.</a:t>
            </a:r>
          </a:p>
          <a:p>
            <a:pPr>
              <a:spcBef>
                <a:spcPts val="600"/>
              </a:spcBef>
              <a:spcAft>
                <a:spcPts val="600"/>
              </a:spcAft>
            </a:pPr>
            <a:r>
              <a:rPr sz="2400" dirty="0"/>
              <a:t>Prompt: </a:t>
            </a:r>
            <a:r>
              <a:rPr sz="2400" dirty="0" err="1"/>
              <a:t>greet_user</a:t>
            </a:r>
            <a:r>
              <a:rPr sz="2400" dirty="0"/>
              <a:t>(name, style) – structured prompt template.</a:t>
            </a:r>
          </a:p>
          <a:p>
            <a:pPr>
              <a:spcBef>
                <a:spcPts val="600"/>
              </a:spcBef>
              <a:spcAft>
                <a:spcPts val="600"/>
              </a:spcAft>
            </a:pPr>
            <a:r>
              <a:rPr sz="2400" dirty="0"/>
              <a:t>These map architecture concepts to concrete MCP server implementation.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945" y="553971"/>
            <a:ext cx="10834234" cy="714442"/>
          </a:xfrm>
        </p:spPr>
        <p:txBody>
          <a:bodyPr/>
          <a:lstStyle/>
          <a:p>
            <a:r>
              <a:rPr dirty="0"/>
              <a:t>Running the </a:t>
            </a:r>
            <a:r>
              <a:rPr dirty="0" err="1"/>
              <a:t>LeaveManager</a:t>
            </a:r>
            <a:r>
              <a:rPr dirty="0"/>
              <a:t> MCP Server</a:t>
            </a:r>
          </a:p>
        </p:txBody>
      </p:sp>
      <p:sp>
        <p:nvSpPr>
          <p:cNvPr id="3" name="Content Placeholder 2"/>
          <p:cNvSpPr>
            <a:spLocks noGrp="1"/>
          </p:cNvSpPr>
          <p:nvPr>
            <p:ph idx="1"/>
          </p:nvPr>
        </p:nvSpPr>
        <p:spPr>
          <a:xfrm>
            <a:off x="668753" y="1638714"/>
            <a:ext cx="10827922" cy="4454111"/>
          </a:xfrm>
        </p:spPr>
        <p:txBody>
          <a:bodyPr>
            <a:normAutofit/>
          </a:bodyPr>
          <a:lstStyle/>
          <a:p>
            <a:pPr>
              <a:spcBef>
                <a:spcPts val="600"/>
              </a:spcBef>
              <a:spcAft>
                <a:spcPts val="600"/>
              </a:spcAft>
            </a:pPr>
            <a:r>
              <a:rPr sz="2400" dirty="0"/>
              <a:t>1. Install project dependencies as described in README.md.</a:t>
            </a:r>
          </a:p>
          <a:p>
            <a:pPr>
              <a:spcBef>
                <a:spcPts val="600"/>
              </a:spcBef>
              <a:spcAft>
                <a:spcPts val="600"/>
              </a:spcAft>
            </a:pPr>
            <a:r>
              <a:rPr sz="2400" dirty="0"/>
              <a:t>2. Run the MCP server (e.g., `python main.py` or via `</a:t>
            </a:r>
            <a:r>
              <a:rPr sz="2400" dirty="0" err="1"/>
              <a:t>uv</a:t>
            </a:r>
            <a:r>
              <a:rPr sz="2400" dirty="0"/>
              <a:t> run`).</a:t>
            </a:r>
          </a:p>
          <a:p>
            <a:pPr>
              <a:spcBef>
                <a:spcPts val="600"/>
              </a:spcBef>
              <a:spcAft>
                <a:spcPts val="600"/>
              </a:spcAft>
            </a:pPr>
            <a:r>
              <a:rPr sz="2400" dirty="0"/>
              <a:t>3. Install/register the server with an MCP client using the `</a:t>
            </a:r>
            <a:r>
              <a:rPr sz="2400" dirty="0" err="1"/>
              <a:t>mcp</a:t>
            </a:r>
            <a:r>
              <a:rPr sz="2400" dirty="0"/>
              <a:t>` CLI.</a:t>
            </a:r>
          </a:p>
          <a:p>
            <a:pPr>
              <a:spcBef>
                <a:spcPts val="600"/>
              </a:spcBef>
              <a:spcAft>
                <a:spcPts val="600"/>
              </a:spcAft>
            </a:pPr>
            <a:r>
              <a:rPr sz="2400" dirty="0"/>
              <a:t>4. From an MCP-compatible host, list tools and call </a:t>
            </a:r>
            <a:r>
              <a:rPr sz="2400" dirty="0" err="1"/>
              <a:t>get_leave_balance</a:t>
            </a:r>
            <a:r>
              <a:rPr sz="2400" dirty="0"/>
              <a:t>, </a:t>
            </a:r>
            <a:r>
              <a:rPr sz="2400" dirty="0" err="1"/>
              <a:t>apply_leave</a:t>
            </a:r>
            <a:r>
              <a:rPr sz="2400" dirty="0"/>
              <a:t>, etc.</a:t>
            </a:r>
          </a:p>
          <a:p>
            <a:pPr>
              <a:spcBef>
                <a:spcPts val="600"/>
              </a:spcBef>
              <a:spcAft>
                <a:spcPts val="600"/>
              </a:spcAft>
            </a:pPr>
            <a:r>
              <a:rPr sz="2400" dirty="0"/>
              <a:t>5. Observe how the server responds and how state changes across calls.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945" y="553971"/>
            <a:ext cx="10834234" cy="714442"/>
          </a:xfrm>
        </p:spPr>
        <p:txBody>
          <a:bodyPr/>
          <a:lstStyle/>
          <a:p>
            <a:r>
              <a:rPr dirty="0"/>
              <a:t>Lab 1 – Run &amp; Explore </a:t>
            </a:r>
            <a:r>
              <a:rPr dirty="0" err="1"/>
              <a:t>LeaveManager</a:t>
            </a:r>
            <a:endParaRPr dirty="0"/>
          </a:p>
        </p:txBody>
      </p:sp>
      <p:sp>
        <p:nvSpPr>
          <p:cNvPr id="3" name="Content Placeholder 2"/>
          <p:cNvSpPr>
            <a:spLocks noGrp="1"/>
          </p:cNvSpPr>
          <p:nvPr>
            <p:ph idx="1"/>
          </p:nvPr>
        </p:nvSpPr>
        <p:spPr>
          <a:xfrm>
            <a:off x="668945" y="1638713"/>
            <a:ext cx="10834234" cy="4454111"/>
          </a:xfrm>
        </p:spPr>
        <p:txBody>
          <a:bodyPr>
            <a:normAutofit/>
          </a:bodyPr>
          <a:lstStyle/>
          <a:p>
            <a:pPr marL="0" indent="0">
              <a:buNone/>
            </a:pPr>
            <a:r>
              <a:rPr sz="2400" dirty="0"/>
              <a:t>Goal: become comfortable starting an MCP server and calling tools.</a:t>
            </a:r>
          </a:p>
          <a:p>
            <a:pPr marL="0" indent="0">
              <a:buNone/>
            </a:pPr>
            <a:r>
              <a:rPr sz="2400" dirty="0"/>
              <a:t>Tasks:</a:t>
            </a:r>
          </a:p>
          <a:p>
            <a:r>
              <a:rPr sz="2400" dirty="0"/>
              <a:t>- Start the </a:t>
            </a:r>
            <a:r>
              <a:rPr sz="2400" dirty="0" err="1"/>
              <a:t>LeaveManager</a:t>
            </a:r>
            <a:r>
              <a:rPr sz="2400" dirty="0"/>
              <a:t> server locally from main.py.</a:t>
            </a:r>
          </a:p>
          <a:p>
            <a:r>
              <a:rPr sz="2400" dirty="0"/>
              <a:t>- From an MCP host/client, call </a:t>
            </a:r>
            <a:r>
              <a:rPr sz="2400" dirty="0" err="1"/>
              <a:t>get_leave_balance</a:t>
            </a:r>
            <a:r>
              <a:rPr sz="2400" dirty="0"/>
              <a:t> for a sample employee ID.</a:t>
            </a:r>
          </a:p>
          <a:p>
            <a:r>
              <a:rPr sz="2400" dirty="0"/>
              <a:t>- Apply leave for a few dates and re-check the history and balance.</a:t>
            </a:r>
          </a:p>
          <a:p>
            <a:r>
              <a:rPr sz="2400" dirty="0"/>
              <a:t>- Discuss how this flow matches the earlier architecture diagram.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945" y="559214"/>
            <a:ext cx="10834234" cy="709199"/>
          </a:xfrm>
        </p:spPr>
        <p:txBody>
          <a:bodyPr/>
          <a:lstStyle/>
          <a:p>
            <a:r>
              <a:rPr dirty="0"/>
              <a:t>Lab 2 – Add a New Tool</a:t>
            </a:r>
          </a:p>
        </p:txBody>
      </p:sp>
      <p:sp>
        <p:nvSpPr>
          <p:cNvPr id="3" name="Content Placeholder 2"/>
          <p:cNvSpPr>
            <a:spLocks noGrp="1"/>
          </p:cNvSpPr>
          <p:nvPr>
            <p:ph idx="1"/>
          </p:nvPr>
        </p:nvSpPr>
        <p:spPr>
          <a:xfrm>
            <a:off x="668945" y="1638713"/>
            <a:ext cx="10834234" cy="4454111"/>
          </a:xfrm>
        </p:spPr>
        <p:txBody>
          <a:bodyPr>
            <a:normAutofit/>
          </a:bodyPr>
          <a:lstStyle/>
          <a:p>
            <a:pPr>
              <a:spcBef>
                <a:spcPts val="600"/>
              </a:spcBef>
              <a:spcAft>
                <a:spcPts val="600"/>
              </a:spcAft>
            </a:pPr>
            <a:r>
              <a:rPr sz="2400" dirty="0"/>
              <a:t>Goal: learn how to design and expose a new MCP tool.</a:t>
            </a:r>
          </a:p>
          <a:p>
            <a:pPr>
              <a:spcBef>
                <a:spcPts val="600"/>
              </a:spcBef>
              <a:spcAft>
                <a:spcPts val="600"/>
              </a:spcAft>
            </a:pPr>
            <a:r>
              <a:rPr sz="2400" dirty="0"/>
              <a:t>Suggested new tool: </a:t>
            </a:r>
            <a:r>
              <a:rPr sz="2400" dirty="0" err="1"/>
              <a:t>cancel_leave</a:t>
            </a:r>
            <a:r>
              <a:rPr sz="2400" dirty="0"/>
              <a:t>(</a:t>
            </a:r>
            <a:r>
              <a:rPr sz="2400" dirty="0" err="1"/>
              <a:t>employee_id</a:t>
            </a:r>
            <a:r>
              <a:rPr sz="2400" dirty="0"/>
              <a:t>, date).</a:t>
            </a:r>
          </a:p>
          <a:p>
            <a:pPr>
              <a:spcBef>
                <a:spcPts val="600"/>
              </a:spcBef>
              <a:spcAft>
                <a:spcPts val="600"/>
              </a:spcAft>
            </a:pPr>
            <a:r>
              <a:rPr sz="2400" dirty="0" err="1"/>
              <a:t>Behaviour</a:t>
            </a:r>
            <a:r>
              <a:rPr sz="2400" dirty="0"/>
              <a:t>: remove a leave date from history (if present) and adjust the balance.</a:t>
            </a:r>
          </a:p>
          <a:p>
            <a:pPr>
              <a:spcBef>
                <a:spcPts val="600"/>
              </a:spcBef>
              <a:spcAft>
                <a:spcPts val="600"/>
              </a:spcAft>
            </a:pPr>
            <a:r>
              <a:rPr sz="2400" dirty="0"/>
              <a:t>Return a short human-readable summary of the change.</a:t>
            </a:r>
          </a:p>
          <a:p>
            <a:pPr>
              <a:spcBef>
                <a:spcPts val="600"/>
              </a:spcBef>
              <a:spcAft>
                <a:spcPts val="600"/>
              </a:spcAft>
            </a:pPr>
            <a:r>
              <a:rPr sz="2400" dirty="0"/>
              <a:t>After implementing, re-run the server and test the tool from the MCP host.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945" y="559214"/>
            <a:ext cx="10834234" cy="709199"/>
          </a:xfrm>
        </p:spPr>
        <p:txBody>
          <a:bodyPr/>
          <a:lstStyle/>
          <a:p>
            <a:r>
              <a:rPr dirty="0"/>
              <a:t>Q&amp;A and Common Pitfalls</a:t>
            </a:r>
          </a:p>
        </p:txBody>
      </p:sp>
      <p:sp>
        <p:nvSpPr>
          <p:cNvPr id="3" name="Content Placeholder 2"/>
          <p:cNvSpPr>
            <a:spLocks noGrp="1"/>
          </p:cNvSpPr>
          <p:nvPr>
            <p:ph idx="1"/>
          </p:nvPr>
        </p:nvSpPr>
        <p:spPr>
          <a:xfrm>
            <a:off x="668945" y="1635319"/>
            <a:ext cx="10834234" cy="4457506"/>
          </a:xfrm>
        </p:spPr>
        <p:txBody>
          <a:bodyPr>
            <a:normAutofit/>
          </a:bodyPr>
          <a:lstStyle/>
          <a:p>
            <a:r>
              <a:rPr sz="2400" dirty="0"/>
              <a:t>Clarify roles of host, client, and server if learners are confused.</a:t>
            </a:r>
          </a:p>
          <a:p>
            <a:r>
              <a:rPr sz="2400" dirty="0"/>
              <a:t>Remember to restart the MCP server after code changes.</a:t>
            </a:r>
          </a:p>
          <a:p>
            <a:r>
              <a:rPr sz="2400" dirty="0"/>
              <a:t>Choose descriptive tool names and arguments; they form the agent API.</a:t>
            </a:r>
          </a:p>
          <a:p>
            <a:r>
              <a:rPr sz="2400" dirty="0"/>
              <a:t>Be explicit about what each tool can and cannot do (security and correctness).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658812" y="1628775"/>
            <a:ext cx="10837863" cy="44640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br>
              <a:rPr lang="en-US" sz="6600" b="1" dirty="0">
                <a:latin typeface="Calibri" panose="020F0502020204030204" pitchFamily="34" charset="0"/>
              </a:rPr>
            </a:br>
            <a:r>
              <a:rPr lang="en-US" sz="2000" b="1" i="1" dirty="0">
                <a:latin typeface="Calibri" panose="020F0502020204030204" pitchFamily="34" charset="0"/>
              </a:rPr>
              <a:t>(Q&amp;A)</a:t>
            </a:r>
            <a:endParaRPr lang="en-IN" sz="2000" b="1" i="1" dirty="0">
              <a:latin typeface="Calibri" panose="020F0502020204030204" pitchFamily="34" charset="0"/>
            </a:endParaRPr>
          </a:p>
          <a:p>
            <a:pPr algn="ct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7596</TotalTime>
  <Words>1079</Words>
  <Application>Microsoft Office PowerPoint</Application>
  <PresentationFormat>Widescreen</PresentationFormat>
  <Paragraphs>108</Paragraphs>
  <Slides>18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Consolas</vt:lpstr>
      <vt:lpstr>BIA Template</vt:lpstr>
      <vt:lpstr>PowerPoint Presentation</vt:lpstr>
      <vt:lpstr>Agenda</vt:lpstr>
      <vt:lpstr>What is MCP?</vt:lpstr>
      <vt:lpstr>MCP's Core Concepts</vt:lpstr>
      <vt:lpstr>MCP Architecture Diagram</vt:lpstr>
      <vt:lpstr>MCP Communication &amp; Transport Layers</vt:lpstr>
      <vt:lpstr>Step-by-Step MCP Workflow</vt:lpstr>
      <vt:lpstr>MCP vs. Traditional APIs Comparison</vt:lpstr>
      <vt:lpstr>MCP Hands On– Outcomes</vt:lpstr>
      <vt:lpstr>Recap – Agents &amp; Tools</vt:lpstr>
      <vt:lpstr>MCP Lifecycle – High-Level</vt:lpstr>
      <vt:lpstr>JSON-RPC in MCP – Simplified Example</vt:lpstr>
      <vt:lpstr>Architecture → Code: LeaveManager Server</vt:lpstr>
      <vt:lpstr>Running the LeaveManager MCP Server</vt:lpstr>
      <vt:lpstr>Lab 1 – Run &amp; Explore LeaveManager</vt:lpstr>
      <vt:lpstr>Lab 2 – Add a New Tool</vt:lpstr>
      <vt:lpstr>Q&amp;A and Common Pitfalls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Simon Nadar</cp:lastModifiedBy>
  <cp:revision>2371</cp:revision>
  <dcterms:created xsi:type="dcterms:W3CDTF">2020-12-23T13:36:00Z</dcterms:created>
  <dcterms:modified xsi:type="dcterms:W3CDTF">2025-11-21T12:46:14Z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