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2"/>
  </p:notesMasterIdLst>
  <p:sldIdLst>
    <p:sldId id="256" r:id="rId2"/>
    <p:sldId id="674" r:id="rId3"/>
    <p:sldId id="257" r:id="rId4"/>
    <p:sldId id="715" r:id="rId5"/>
    <p:sldId id="260" r:id="rId6"/>
    <p:sldId id="716" r:id="rId7"/>
    <p:sldId id="717" r:id="rId8"/>
    <p:sldId id="718" r:id="rId9"/>
    <p:sldId id="719" r:id="rId10"/>
    <p:sldId id="30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orient="horz" pos="799" userDrawn="1">
          <p15:clr>
            <a:srgbClr val="A4A3A4"/>
          </p15:clr>
        </p15:guide>
        <p15:guide id="3" orient="horz" pos="1026" userDrawn="1">
          <p15:clr>
            <a:srgbClr val="A4A3A4"/>
          </p15:clr>
        </p15:guide>
        <p15:guide id="4" pos="438" userDrawn="1">
          <p15:clr>
            <a:srgbClr val="A4A3A4"/>
          </p15:clr>
        </p15:guide>
        <p15:guide id="5" pos="7242" userDrawn="1">
          <p15:clr>
            <a:srgbClr val="A4A3A4"/>
          </p15:clr>
        </p15:guide>
        <p15:guide id="6" orient="horz"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51546F"/>
    <a:srgbClr val="333F50"/>
    <a:srgbClr val="8497B0"/>
    <a:srgbClr val="8FAADC"/>
    <a:srgbClr val="2F5597"/>
    <a:srgbClr val="626CC7"/>
    <a:srgbClr val="323B8D"/>
    <a:srgbClr val="21275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15" autoAdjust="0"/>
    <p:restoredTop sz="93447" autoAdjust="0"/>
  </p:normalViewPr>
  <p:slideViewPr>
    <p:cSldViewPr snapToGrid="0">
      <p:cViewPr varScale="1">
        <p:scale>
          <a:sx n="100" d="100"/>
          <a:sy n="100" d="100"/>
        </p:scale>
        <p:origin x="450" y="78"/>
      </p:cViewPr>
      <p:guideLst>
        <p:guide orient="horz" pos="346"/>
        <p:guide orient="horz" pos="799"/>
        <p:guide orient="horz" pos="1026"/>
        <p:guide pos="438"/>
        <p:guide pos="7242"/>
        <p:guide orient="horz" pos="3838"/>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21-11-2025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531800" y="89584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1659835"/>
            <a:ext cx="7057847"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5" name="Title 1">
            <a:extLst>
              <a:ext uri="{FF2B5EF4-FFF2-40B4-BE49-F238E27FC236}">
                <a16:creationId xmlns:a16="http://schemas.microsoft.com/office/drawing/2014/main" id="{F169BDF6-EA32-8D15-7297-96F5B8F6EF09}"/>
              </a:ext>
            </a:extLst>
          </p:cNvPr>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5999928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
        <p:nvSpPr>
          <p:cNvPr id="5" name="Title 1">
            <a:extLst>
              <a:ext uri="{FF2B5EF4-FFF2-40B4-BE49-F238E27FC236}">
                <a16:creationId xmlns:a16="http://schemas.microsoft.com/office/drawing/2014/main" id="{8AA7827E-D2A7-AA00-8D40-7B76E978D014}"/>
              </a:ext>
            </a:extLst>
          </p:cNvPr>
          <p:cNvSpPr>
            <a:spLocks noGrp="1"/>
          </p:cNvSpPr>
          <p:nvPr>
            <p:ph type="title"/>
          </p:nvPr>
        </p:nvSpPr>
        <p:spPr>
          <a:xfrm>
            <a:off x="838202" y="2049670"/>
            <a:ext cx="2743200" cy="2562226"/>
          </a:xfrm>
        </p:spPr>
        <p:txBody>
          <a:bodyPr/>
          <a:lstStyle>
            <a:lvl1pPr>
              <a:defRPr>
                <a:solidFill>
                  <a:srgbClr val="161A3E"/>
                </a:solidFill>
              </a:defRPr>
            </a:lvl1pPr>
          </a:lstStyle>
          <a:p>
            <a:r>
              <a:rPr lang="en-US" dirty="0"/>
              <a:t>Click to edit Master title style</a:t>
            </a:r>
          </a:p>
        </p:txBody>
      </p:sp>
    </p:spTree>
    <p:extLst>
      <p:ext uri="{BB962C8B-B14F-4D97-AF65-F5344CB8AC3E}">
        <p14:creationId xmlns:p14="http://schemas.microsoft.com/office/powerpoint/2010/main" val="64553904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61A3E"/>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solidFill>
                <a:srgbClr val="161A3E"/>
              </a:solidFill>
            </a:endParaRPr>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rgbClr val="161A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lvl1pPr>
              <a:defRPr>
                <a:solidFill>
                  <a:srgbClr val="161A3E"/>
                </a:solidFill>
              </a:defRPr>
            </a:lvl1p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lvl1pPr>
              <a:defRPr>
                <a:solidFill>
                  <a:srgbClr val="161A3E"/>
                </a:solidFill>
              </a:defRPr>
            </a:lvl1p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solidFill>
                  <a:srgbClr val="161A3E"/>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solidFill>
                  <a:srgbClr val="161A3E"/>
                </a:solidFill>
              </a:defRPr>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rgbClr val="161A3E"/>
                </a:solidFill>
              </a:defRPr>
            </a:lvl1pPr>
            <a:lvl2pPr>
              <a:defRPr sz="2800">
                <a:solidFill>
                  <a:srgbClr val="161A3E"/>
                </a:solidFill>
              </a:defRPr>
            </a:lvl2pPr>
            <a:lvl3pPr>
              <a:defRPr sz="2400">
                <a:solidFill>
                  <a:srgbClr val="161A3E"/>
                </a:solidFill>
              </a:defRPr>
            </a:lvl3pPr>
            <a:lvl4pPr>
              <a:defRPr sz="2000">
                <a:solidFill>
                  <a:srgbClr val="161A3E"/>
                </a:solidFill>
              </a:defRPr>
            </a:lvl4pPr>
            <a:lvl5pPr>
              <a:defRPr sz="2000">
                <a:solidFill>
                  <a:srgbClr val="161A3E"/>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solidFill>
                  <a:srgbClr val="161A3E"/>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lvl1pPr>
              <a:defRPr>
                <a:solidFill>
                  <a:srgbClr val="161A3E"/>
                </a:solidFill>
              </a:defRPr>
            </a:lvl1p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rgbClr val="161A3E"/>
                </a:solidFill>
              </a:defRPr>
            </a:lvl1pPr>
            <a:lvl2pPr>
              <a:defRPr>
                <a:solidFill>
                  <a:srgbClr val="161A3E"/>
                </a:solidFill>
              </a:defRPr>
            </a:lvl2pPr>
            <a:lvl3pPr>
              <a:defRPr>
                <a:solidFill>
                  <a:srgbClr val="161A3E"/>
                </a:solidFill>
              </a:defRPr>
            </a:lvl3pPr>
            <a:lvl4pPr>
              <a:defRPr>
                <a:solidFill>
                  <a:srgbClr val="161A3E"/>
                </a:solidFill>
              </a:defRPr>
            </a:lvl4pPr>
            <a:lvl5pPr>
              <a:defRPr>
                <a:solidFill>
                  <a:srgbClr val="161A3E"/>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695325" y="1628775"/>
            <a:ext cx="10801350" cy="44640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4400" dirty="0">
              <a:solidFill>
                <a:srgbClr val="FFFFFF"/>
              </a:solidFill>
            </a:endParaRPr>
          </a:p>
        </p:txBody>
      </p:sp>
      <p:sp>
        <p:nvSpPr>
          <p:cNvPr id="4" name="TextBox 3">
            <a:extLst>
              <a:ext uri="{FF2B5EF4-FFF2-40B4-BE49-F238E27FC236}">
                <a16:creationId xmlns:a16="http://schemas.microsoft.com/office/drawing/2014/main" id="{9CBCB331-4C6F-D2AD-33D4-2AD31FC1B404}"/>
              </a:ext>
            </a:extLst>
          </p:cNvPr>
          <p:cNvSpPr txBox="1"/>
          <p:nvPr/>
        </p:nvSpPr>
        <p:spPr>
          <a:xfrm>
            <a:off x="695325" y="2618510"/>
            <a:ext cx="10801350" cy="2862322"/>
          </a:xfrm>
          <a:prstGeom prst="rect">
            <a:avLst/>
          </a:prstGeom>
          <a:noFill/>
        </p:spPr>
        <p:txBody>
          <a:bodyPr wrap="square">
            <a:spAutoFit/>
          </a:bodyPr>
          <a:lstStyle/>
          <a:p>
            <a:pPr algn="ctr"/>
            <a:r>
              <a:rPr lang="en-US" sz="6000" b="1" dirty="0">
                <a:solidFill>
                  <a:schemeClr val="bg1"/>
                </a:solidFill>
              </a:rPr>
              <a:t>Case Study 2 – HR Leave Management Assistant </a:t>
            </a:r>
          </a:p>
          <a:p>
            <a:pPr algn="ctr"/>
            <a:r>
              <a:rPr lang="en-US" sz="6000" b="1" dirty="0">
                <a:solidFill>
                  <a:schemeClr val="bg1"/>
                </a:solidFill>
              </a:rPr>
              <a:t>(MCP Project)</a:t>
            </a:r>
            <a:endParaRPr lang="en-IN" sz="6000" b="1" dirty="0">
              <a:solidFill>
                <a:schemeClr val="bg1"/>
              </a:solidFill>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705716" y="559666"/>
            <a:ext cx="10790959" cy="708747"/>
          </a:xfrm>
        </p:spPr>
        <p:txBody>
          <a:bodyPr/>
          <a:lstStyle/>
          <a:p>
            <a:r>
              <a:rPr lang="en-IN" dirty="0"/>
              <a:t>Agenda</a:t>
            </a:r>
          </a:p>
        </p:txBody>
      </p:sp>
      <p:sp>
        <p:nvSpPr>
          <p:cNvPr id="3" name="Content Placeholder 2">
            <a:extLst>
              <a:ext uri="{FF2B5EF4-FFF2-40B4-BE49-F238E27FC236}">
                <a16:creationId xmlns:a16="http://schemas.microsoft.com/office/drawing/2014/main" id="{5498D2CD-3F24-F46B-D0FD-F213BDB36EC1}"/>
              </a:ext>
            </a:extLst>
          </p:cNvPr>
          <p:cNvSpPr>
            <a:spLocks noGrp="1"/>
          </p:cNvSpPr>
          <p:nvPr>
            <p:ph idx="1"/>
          </p:nvPr>
        </p:nvSpPr>
        <p:spPr>
          <a:xfrm>
            <a:off x="705715" y="1639166"/>
            <a:ext cx="10790959" cy="4453659"/>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r>
              <a:rPr lang="en-US" dirty="0"/>
              <a:t>Interpret a business problem and map it to MCP tools, resources and prompts.</a:t>
            </a:r>
          </a:p>
          <a:p>
            <a:r>
              <a:rPr lang="en-US" dirty="0"/>
              <a:t>Extend an existing MCP server with at least one new capability.</a:t>
            </a:r>
          </a:p>
          <a:p>
            <a:r>
              <a:rPr lang="en-US" dirty="0"/>
              <a:t>Run the extended MCP server in a </a:t>
            </a:r>
            <a:r>
              <a:rPr lang="en-US" dirty="0" err="1"/>
              <a:t>containerised</a:t>
            </a:r>
            <a:r>
              <a:rPr lang="en-US" dirty="0"/>
              <a:t> environment.</a:t>
            </a:r>
          </a:p>
          <a:p>
            <a:r>
              <a:rPr lang="en-US" dirty="0"/>
              <a:t>Present and defend your design and implementation to peers.</a:t>
            </a:r>
          </a:p>
        </p:txBody>
      </p:sp>
    </p:spTree>
    <p:extLst>
      <p:ext uri="{BB962C8B-B14F-4D97-AF65-F5344CB8AC3E}">
        <p14:creationId xmlns:p14="http://schemas.microsoft.com/office/powerpoint/2010/main" val="227245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6B442-A52E-DA14-31A3-647D63F5D390}"/>
              </a:ext>
            </a:extLst>
          </p:cNvPr>
          <p:cNvSpPr>
            <a:spLocks noGrp="1"/>
          </p:cNvSpPr>
          <p:nvPr>
            <p:ph type="title"/>
          </p:nvPr>
        </p:nvSpPr>
        <p:spPr>
          <a:xfrm>
            <a:off x="705716" y="559667"/>
            <a:ext cx="10790960" cy="708746"/>
          </a:xfrm>
        </p:spPr>
        <p:txBody>
          <a:bodyPr>
            <a:normAutofit/>
          </a:bodyPr>
          <a:lstStyle/>
          <a:p>
            <a:r>
              <a:rPr lang="en-US" dirty="0"/>
              <a:t>Case Study Brief – HR Leave Assistant</a:t>
            </a:r>
          </a:p>
        </p:txBody>
      </p:sp>
      <p:sp>
        <p:nvSpPr>
          <p:cNvPr id="3" name="Content Placeholder 2">
            <a:extLst>
              <a:ext uri="{FF2B5EF4-FFF2-40B4-BE49-F238E27FC236}">
                <a16:creationId xmlns:a16="http://schemas.microsoft.com/office/drawing/2014/main" id="{6E74D6FE-6E8E-C9E8-E2FA-6CD698A4E50E}"/>
              </a:ext>
            </a:extLst>
          </p:cNvPr>
          <p:cNvSpPr>
            <a:spLocks noGrp="1"/>
          </p:cNvSpPr>
          <p:nvPr>
            <p:ph idx="1"/>
          </p:nvPr>
        </p:nvSpPr>
        <p:spPr>
          <a:xfrm>
            <a:off x="705716" y="1639166"/>
            <a:ext cx="10790960" cy="4453659"/>
          </a:xfrm>
        </p:spPr>
        <p:txBody>
          <a:bodyPr>
            <a:normAutofit/>
          </a:bodyPr>
          <a:lstStyle/>
          <a:p>
            <a:r>
              <a:rPr lang="en-US" dirty="0"/>
              <a:t>You are building an MCP-based HR Leave Assistant for a mid-size company.</a:t>
            </a:r>
          </a:p>
          <a:p>
            <a:r>
              <a:rPr lang="en-US" dirty="0"/>
              <a:t>HR wants the assistant to:</a:t>
            </a:r>
          </a:p>
          <a:p>
            <a:pPr lvl="1"/>
            <a:r>
              <a:rPr lang="en-US" sz="2800" dirty="0"/>
              <a:t>Check leave balances and show personal leave history.</a:t>
            </a:r>
          </a:p>
          <a:p>
            <a:pPr lvl="1"/>
            <a:r>
              <a:rPr lang="en-US" sz="2800" dirty="0"/>
              <a:t>Apply for leave and (for HR) approve or reject requests.</a:t>
            </a:r>
          </a:p>
          <a:p>
            <a:pPr lvl="1"/>
            <a:r>
              <a:rPr lang="en-US" sz="2800" dirty="0"/>
              <a:t>View department summaries and recent leave activity.</a:t>
            </a:r>
          </a:p>
          <a:p>
            <a:r>
              <a:rPr lang="en-US" dirty="0"/>
              <a:t>You are given a starting MCP server: </a:t>
            </a:r>
            <a:r>
              <a:rPr lang="en-US" dirty="0" err="1"/>
              <a:t>HRLeaveManager</a:t>
            </a:r>
            <a:r>
              <a:rPr lang="en-US" dirty="0"/>
              <a:t> (main_v2.py).</a:t>
            </a:r>
          </a:p>
        </p:txBody>
      </p:sp>
    </p:spTree>
    <p:extLst>
      <p:ext uri="{BB962C8B-B14F-4D97-AF65-F5344CB8AC3E}">
        <p14:creationId xmlns:p14="http://schemas.microsoft.com/office/powerpoint/2010/main" val="2494825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6D5EA-AD73-FAED-BC91-84FF967E0F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B6F38-2725-AE55-1E2D-10AD96E920DC}"/>
              </a:ext>
            </a:extLst>
          </p:cNvPr>
          <p:cNvSpPr>
            <a:spLocks noGrp="1"/>
          </p:cNvSpPr>
          <p:nvPr>
            <p:ph type="title"/>
          </p:nvPr>
        </p:nvSpPr>
        <p:spPr>
          <a:xfrm>
            <a:off x="705716" y="559667"/>
            <a:ext cx="10790960" cy="708746"/>
          </a:xfrm>
        </p:spPr>
        <p:txBody>
          <a:bodyPr>
            <a:normAutofit/>
          </a:bodyPr>
          <a:lstStyle/>
          <a:p>
            <a:r>
              <a:rPr lang="en-IN" dirty="0"/>
              <a:t>Existing Capabilities – </a:t>
            </a:r>
            <a:r>
              <a:rPr lang="en-IN" dirty="0" err="1"/>
              <a:t>HRLeaveManager</a:t>
            </a:r>
            <a:endParaRPr lang="en-US" dirty="0"/>
          </a:p>
        </p:txBody>
      </p:sp>
      <p:sp>
        <p:nvSpPr>
          <p:cNvPr id="3" name="Content Placeholder 2">
            <a:extLst>
              <a:ext uri="{FF2B5EF4-FFF2-40B4-BE49-F238E27FC236}">
                <a16:creationId xmlns:a16="http://schemas.microsoft.com/office/drawing/2014/main" id="{0D409875-20BB-21CB-676D-A99A907383FA}"/>
              </a:ext>
            </a:extLst>
          </p:cNvPr>
          <p:cNvSpPr>
            <a:spLocks noGrp="1"/>
          </p:cNvSpPr>
          <p:nvPr>
            <p:ph idx="1"/>
          </p:nvPr>
        </p:nvSpPr>
        <p:spPr>
          <a:xfrm>
            <a:off x="705716" y="1639166"/>
            <a:ext cx="10790960" cy="4453659"/>
          </a:xfrm>
        </p:spPr>
        <p:txBody>
          <a:bodyPr>
            <a:normAutofit/>
          </a:bodyPr>
          <a:lstStyle/>
          <a:p>
            <a:r>
              <a:rPr lang="en-US" dirty="0"/>
              <a:t>Data model (SQLite): employees, </a:t>
            </a:r>
            <a:r>
              <a:rPr lang="en-US" dirty="0" err="1"/>
              <a:t>leave_records</a:t>
            </a:r>
            <a:r>
              <a:rPr lang="en-US" dirty="0"/>
              <a:t>, </a:t>
            </a:r>
            <a:r>
              <a:rPr lang="en-US" dirty="0" err="1"/>
              <a:t>leave_balance_history</a:t>
            </a:r>
            <a:r>
              <a:rPr lang="en-US" dirty="0"/>
              <a:t>.</a:t>
            </a:r>
          </a:p>
          <a:p>
            <a:r>
              <a:rPr lang="en-US" dirty="0"/>
              <a:t>Employee management tools: </a:t>
            </a:r>
            <a:r>
              <a:rPr lang="en-US" dirty="0" err="1"/>
              <a:t>add_employee</a:t>
            </a:r>
            <a:r>
              <a:rPr lang="en-US" dirty="0"/>
              <a:t>, </a:t>
            </a:r>
            <a:r>
              <a:rPr lang="en-US" dirty="0" err="1"/>
              <a:t>remove_employee</a:t>
            </a:r>
            <a:r>
              <a:rPr lang="en-US" dirty="0"/>
              <a:t>, </a:t>
            </a:r>
            <a:r>
              <a:rPr lang="en-US" dirty="0" err="1"/>
              <a:t>update_leave_balance</a:t>
            </a:r>
            <a:r>
              <a:rPr lang="en-US" dirty="0"/>
              <a:t>, </a:t>
            </a:r>
            <a:r>
              <a:rPr lang="en-US" dirty="0" err="1"/>
              <a:t>list_employees</a:t>
            </a:r>
            <a:r>
              <a:rPr lang="en-US" dirty="0"/>
              <a:t>, </a:t>
            </a:r>
            <a:r>
              <a:rPr lang="en-US" dirty="0" err="1"/>
              <a:t>get_employee_details</a:t>
            </a:r>
            <a:r>
              <a:rPr lang="en-US" dirty="0"/>
              <a:t>.</a:t>
            </a:r>
          </a:p>
          <a:p>
            <a:r>
              <a:rPr lang="en-US" dirty="0"/>
              <a:t>Leave management tools: </a:t>
            </a:r>
            <a:r>
              <a:rPr lang="en-US" dirty="0" err="1"/>
              <a:t>get_leave_balance</a:t>
            </a:r>
            <a:r>
              <a:rPr lang="en-US" dirty="0"/>
              <a:t>, </a:t>
            </a:r>
            <a:r>
              <a:rPr lang="en-US" dirty="0" err="1"/>
              <a:t>apply_leave</a:t>
            </a:r>
            <a:r>
              <a:rPr lang="en-US" dirty="0"/>
              <a:t>, </a:t>
            </a:r>
            <a:r>
              <a:rPr lang="en-US" dirty="0" err="1"/>
              <a:t>get_leave_history</a:t>
            </a:r>
            <a:r>
              <a:rPr lang="en-US" dirty="0"/>
              <a:t>.</a:t>
            </a:r>
          </a:p>
          <a:p>
            <a:r>
              <a:rPr lang="en-US" dirty="0"/>
              <a:t>Reporting tools: </a:t>
            </a:r>
            <a:r>
              <a:rPr lang="en-US" dirty="0" err="1"/>
              <a:t>get_department_summary</a:t>
            </a:r>
            <a:r>
              <a:rPr lang="en-US" dirty="0"/>
              <a:t>, </a:t>
            </a:r>
            <a:r>
              <a:rPr lang="en-US" dirty="0" err="1"/>
              <a:t>get_recent_leave_activity</a:t>
            </a:r>
            <a:r>
              <a:rPr lang="en-US" dirty="0"/>
              <a:t>.</a:t>
            </a:r>
          </a:p>
          <a:p>
            <a:r>
              <a:rPr lang="en-US" dirty="0"/>
              <a:t>Prompt helpers: </a:t>
            </a:r>
            <a:r>
              <a:rPr lang="en-US" dirty="0" err="1"/>
              <a:t>hr_dashboard_prompt</a:t>
            </a:r>
            <a:r>
              <a:rPr lang="en-US" dirty="0"/>
              <a:t>, </a:t>
            </a:r>
            <a:r>
              <a:rPr lang="en-US" dirty="0" err="1"/>
              <a:t>leave_report_prompt</a:t>
            </a:r>
            <a:r>
              <a:rPr lang="en-US" dirty="0"/>
              <a:t> for richer LLM responses.</a:t>
            </a:r>
          </a:p>
        </p:txBody>
      </p:sp>
    </p:spTree>
    <p:extLst>
      <p:ext uri="{BB962C8B-B14F-4D97-AF65-F5344CB8AC3E}">
        <p14:creationId xmlns:p14="http://schemas.microsoft.com/office/powerpoint/2010/main" val="333768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E55C3-BCF4-2BE9-0BA1-9480557F5622}"/>
              </a:ext>
            </a:extLst>
          </p:cNvPr>
          <p:cNvSpPr>
            <a:spLocks noGrp="1"/>
          </p:cNvSpPr>
          <p:nvPr>
            <p:ph type="title"/>
          </p:nvPr>
        </p:nvSpPr>
        <p:spPr>
          <a:xfrm>
            <a:off x="705716" y="559667"/>
            <a:ext cx="10790959" cy="708746"/>
          </a:xfrm>
        </p:spPr>
        <p:txBody>
          <a:bodyPr>
            <a:normAutofit/>
          </a:bodyPr>
          <a:lstStyle/>
          <a:p>
            <a:pPr lvl="0"/>
            <a:r>
              <a:rPr lang="en-IN" dirty="0"/>
              <a:t>Possible Improvements – Examples</a:t>
            </a:r>
            <a:endParaRPr lang="en-US" dirty="0"/>
          </a:p>
        </p:txBody>
      </p:sp>
      <p:sp>
        <p:nvSpPr>
          <p:cNvPr id="3" name="Content Placeholder 2">
            <a:extLst>
              <a:ext uri="{FF2B5EF4-FFF2-40B4-BE49-F238E27FC236}">
                <a16:creationId xmlns:a16="http://schemas.microsoft.com/office/drawing/2014/main" id="{DE8666EA-E65A-5FA1-2E9D-AC91507646A6}"/>
              </a:ext>
            </a:extLst>
          </p:cNvPr>
          <p:cNvSpPr>
            <a:spLocks noGrp="1"/>
          </p:cNvSpPr>
          <p:nvPr>
            <p:ph idx="1"/>
          </p:nvPr>
        </p:nvSpPr>
        <p:spPr>
          <a:xfrm>
            <a:off x="705717" y="1639168"/>
            <a:ext cx="10790958" cy="4453658"/>
          </a:xfrm>
        </p:spPr>
        <p:txBody>
          <a:bodyPr>
            <a:normAutofit/>
          </a:bodyPr>
          <a:lstStyle/>
          <a:p>
            <a:r>
              <a:rPr lang="en-US" dirty="0"/>
              <a:t>Add a leave approval workflow (Pending / Approved / Rejected).</a:t>
            </a:r>
          </a:p>
          <a:p>
            <a:r>
              <a:rPr lang="en-US" dirty="0"/>
              <a:t>Strengthen validation (no past-dated or overlapping leave).</a:t>
            </a:r>
          </a:p>
          <a:p>
            <a:r>
              <a:rPr lang="en-US" dirty="0"/>
              <a:t>Add export tools (CSV-like output for HR analytics).</a:t>
            </a:r>
          </a:p>
          <a:p>
            <a:r>
              <a:rPr lang="en-US" dirty="0"/>
              <a:t>Create manager-specific views (team-level summaries).</a:t>
            </a:r>
          </a:p>
          <a:p>
            <a:r>
              <a:rPr lang="en-US" dirty="0"/>
              <a:t>Surface risk &amp; coverage insights (overloaded teams, low balances).</a:t>
            </a:r>
          </a:p>
          <a:p>
            <a:r>
              <a:rPr lang="en-US" dirty="0"/>
              <a:t>Or propose another realistic HR-related enhancement.</a:t>
            </a:r>
          </a:p>
        </p:txBody>
      </p:sp>
    </p:spTree>
    <p:extLst>
      <p:ext uri="{BB962C8B-B14F-4D97-AF65-F5344CB8AC3E}">
        <p14:creationId xmlns:p14="http://schemas.microsoft.com/office/powerpoint/2010/main" val="3464990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93CD9-69C4-912C-08B1-DCD20F424E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FCCF00-B812-9656-F6EE-7587005C077D}"/>
              </a:ext>
            </a:extLst>
          </p:cNvPr>
          <p:cNvSpPr>
            <a:spLocks noGrp="1"/>
          </p:cNvSpPr>
          <p:nvPr>
            <p:ph type="title"/>
          </p:nvPr>
        </p:nvSpPr>
        <p:spPr>
          <a:xfrm>
            <a:off x="705716" y="559667"/>
            <a:ext cx="10790959" cy="708746"/>
          </a:xfrm>
        </p:spPr>
        <p:txBody>
          <a:bodyPr>
            <a:normAutofit/>
          </a:bodyPr>
          <a:lstStyle/>
          <a:p>
            <a:pPr lvl="0"/>
            <a:r>
              <a:rPr lang="en-US" dirty="0"/>
              <a:t>Team Tasks – What You Need to Do</a:t>
            </a:r>
          </a:p>
        </p:txBody>
      </p:sp>
      <p:sp>
        <p:nvSpPr>
          <p:cNvPr id="3" name="Content Placeholder 2">
            <a:extLst>
              <a:ext uri="{FF2B5EF4-FFF2-40B4-BE49-F238E27FC236}">
                <a16:creationId xmlns:a16="http://schemas.microsoft.com/office/drawing/2014/main" id="{4127EF0C-014C-CDD6-3849-195BA8043244}"/>
              </a:ext>
            </a:extLst>
          </p:cNvPr>
          <p:cNvSpPr>
            <a:spLocks noGrp="1"/>
          </p:cNvSpPr>
          <p:nvPr>
            <p:ph idx="1"/>
          </p:nvPr>
        </p:nvSpPr>
        <p:spPr>
          <a:xfrm>
            <a:off x="705717" y="1639168"/>
            <a:ext cx="10790958" cy="4453658"/>
          </a:xfrm>
        </p:spPr>
        <p:txBody>
          <a:bodyPr>
            <a:normAutofit/>
          </a:bodyPr>
          <a:lstStyle/>
          <a:p>
            <a:r>
              <a:rPr lang="en-US" dirty="0"/>
              <a:t>Form teams of 2–3 participants.</a:t>
            </a:r>
          </a:p>
          <a:p>
            <a:r>
              <a:rPr lang="en-US" dirty="0"/>
              <a:t>Choose 1–2 concrete improvements to implement.</a:t>
            </a:r>
          </a:p>
          <a:p>
            <a:r>
              <a:rPr lang="en-US" dirty="0"/>
              <a:t>Design the new MCP tools/resources/prompts on paper (name, inputs, outputs, edge cases).</a:t>
            </a:r>
          </a:p>
          <a:p>
            <a:r>
              <a:rPr lang="en-US" dirty="0"/>
              <a:t>Implement the changes in main_v2.py and restart the MCP server.</a:t>
            </a:r>
          </a:p>
          <a:p>
            <a:r>
              <a:rPr lang="en-US" dirty="0"/>
              <a:t>Build and run a Docker image for your updated server (reuse Session 31 flow).</a:t>
            </a:r>
          </a:p>
          <a:p>
            <a:r>
              <a:rPr lang="en-US" dirty="0"/>
              <a:t>Prepare a 5-minute demo: problem → design → live call → reflection.</a:t>
            </a:r>
          </a:p>
        </p:txBody>
      </p:sp>
    </p:spTree>
    <p:extLst>
      <p:ext uri="{BB962C8B-B14F-4D97-AF65-F5344CB8AC3E}">
        <p14:creationId xmlns:p14="http://schemas.microsoft.com/office/powerpoint/2010/main" val="92113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2C6F-E966-EF6C-475E-A61BA736C8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8CDF8-ED2F-F66A-AE35-180DC5B93DD3}"/>
              </a:ext>
            </a:extLst>
          </p:cNvPr>
          <p:cNvSpPr>
            <a:spLocks noGrp="1"/>
          </p:cNvSpPr>
          <p:nvPr>
            <p:ph type="title"/>
          </p:nvPr>
        </p:nvSpPr>
        <p:spPr>
          <a:xfrm>
            <a:off x="705716" y="559667"/>
            <a:ext cx="10790959" cy="708746"/>
          </a:xfrm>
        </p:spPr>
        <p:txBody>
          <a:bodyPr>
            <a:normAutofit/>
          </a:bodyPr>
          <a:lstStyle/>
          <a:p>
            <a:pPr lvl="0"/>
            <a:r>
              <a:rPr lang="en-IN" dirty="0"/>
              <a:t>Assessment Rubric</a:t>
            </a:r>
            <a:endParaRPr lang="en-US" dirty="0"/>
          </a:p>
        </p:txBody>
      </p:sp>
      <p:sp>
        <p:nvSpPr>
          <p:cNvPr id="5" name="Content Placeholder 4">
            <a:extLst>
              <a:ext uri="{FF2B5EF4-FFF2-40B4-BE49-F238E27FC236}">
                <a16:creationId xmlns:a16="http://schemas.microsoft.com/office/drawing/2014/main" id="{F4F1B85F-7B33-455D-05FC-E58D772DA4B0}"/>
              </a:ext>
            </a:extLst>
          </p:cNvPr>
          <p:cNvSpPr>
            <a:spLocks noGrp="1"/>
          </p:cNvSpPr>
          <p:nvPr>
            <p:ph idx="1"/>
          </p:nvPr>
        </p:nvSpPr>
        <p:spPr>
          <a:xfrm>
            <a:off x="705715" y="1640807"/>
            <a:ext cx="10792601" cy="4444366"/>
          </a:xfrm>
        </p:spPr>
        <p:txBody>
          <a:bodyPr/>
          <a:lstStyle/>
          <a:p>
            <a:r>
              <a:rPr lang="en-US" dirty="0"/>
              <a:t>Correctness (40%) – Does your solution behave as described? Are edge cases handled?</a:t>
            </a:r>
          </a:p>
          <a:p>
            <a:r>
              <a:rPr lang="en-US" dirty="0"/>
              <a:t>MCP design (25%) – Clear tool naming, parameters, and responses; good alignment with MCP concepts.</a:t>
            </a:r>
          </a:p>
          <a:p>
            <a:r>
              <a:rPr lang="en-US" dirty="0"/>
              <a:t>Demo quality (20%) – Clear, focused, and tied back to the HR story.</a:t>
            </a:r>
          </a:p>
          <a:p>
            <a:r>
              <a:rPr lang="en-US" dirty="0"/>
              <a:t>Communication (15%) – Team explains decisions, trade-offs, and future improvements.</a:t>
            </a:r>
          </a:p>
        </p:txBody>
      </p:sp>
    </p:spTree>
    <p:extLst>
      <p:ext uri="{BB962C8B-B14F-4D97-AF65-F5344CB8AC3E}">
        <p14:creationId xmlns:p14="http://schemas.microsoft.com/office/powerpoint/2010/main" val="4189913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FCE26-101B-77B6-A748-FB06B7F4A8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D3531-FAD9-B3A5-03F3-646A93915C16}"/>
              </a:ext>
            </a:extLst>
          </p:cNvPr>
          <p:cNvSpPr>
            <a:spLocks noGrp="1"/>
          </p:cNvSpPr>
          <p:nvPr>
            <p:ph type="title"/>
          </p:nvPr>
        </p:nvSpPr>
        <p:spPr>
          <a:xfrm>
            <a:off x="705716" y="559667"/>
            <a:ext cx="10790959" cy="708746"/>
          </a:xfrm>
        </p:spPr>
        <p:txBody>
          <a:bodyPr>
            <a:normAutofit/>
          </a:bodyPr>
          <a:lstStyle/>
          <a:p>
            <a:pPr lvl="0"/>
            <a:r>
              <a:rPr lang="en-IN" dirty="0"/>
              <a:t>Suggested Demo Structure</a:t>
            </a:r>
            <a:endParaRPr lang="en-US" dirty="0"/>
          </a:p>
        </p:txBody>
      </p:sp>
      <p:sp>
        <p:nvSpPr>
          <p:cNvPr id="3" name="Content Placeholder 2">
            <a:extLst>
              <a:ext uri="{FF2B5EF4-FFF2-40B4-BE49-F238E27FC236}">
                <a16:creationId xmlns:a16="http://schemas.microsoft.com/office/drawing/2014/main" id="{441E1B4B-1C9A-961E-0F27-1982208CC7EC}"/>
              </a:ext>
            </a:extLst>
          </p:cNvPr>
          <p:cNvSpPr>
            <a:spLocks noGrp="1"/>
          </p:cNvSpPr>
          <p:nvPr>
            <p:ph idx="1"/>
          </p:nvPr>
        </p:nvSpPr>
        <p:spPr>
          <a:xfrm>
            <a:off x="705717" y="1639168"/>
            <a:ext cx="10790958" cy="4453658"/>
          </a:xfrm>
        </p:spPr>
        <p:txBody>
          <a:bodyPr>
            <a:normAutofit/>
          </a:bodyPr>
          <a:lstStyle/>
          <a:p>
            <a:r>
              <a:rPr lang="en-US" dirty="0"/>
              <a:t>1. Problem – What HR use-case did you focus on?</a:t>
            </a:r>
          </a:p>
          <a:p>
            <a:r>
              <a:rPr lang="en-US" dirty="0"/>
              <a:t>2. Design – Which new tools/prompts did you add? What do they look like?</a:t>
            </a:r>
          </a:p>
          <a:p>
            <a:r>
              <a:rPr lang="en-US" dirty="0"/>
              <a:t>3. Demo – Show a live call to your MCP server proving it works.</a:t>
            </a:r>
          </a:p>
          <a:p>
            <a:r>
              <a:rPr lang="en-US" dirty="0"/>
              <a:t>4. Reflection – What was difficult? What would you do next with more time?</a:t>
            </a:r>
          </a:p>
        </p:txBody>
      </p:sp>
    </p:spTree>
    <p:extLst>
      <p:ext uri="{BB962C8B-B14F-4D97-AF65-F5344CB8AC3E}">
        <p14:creationId xmlns:p14="http://schemas.microsoft.com/office/powerpoint/2010/main" val="1570886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E6885-FB29-39B0-EB46-632DB4520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F9693-4CD6-151A-6A17-C4BB8A0C3495}"/>
              </a:ext>
            </a:extLst>
          </p:cNvPr>
          <p:cNvSpPr>
            <a:spLocks noGrp="1"/>
          </p:cNvSpPr>
          <p:nvPr>
            <p:ph type="title"/>
          </p:nvPr>
        </p:nvSpPr>
        <p:spPr>
          <a:xfrm>
            <a:off x="705716" y="559667"/>
            <a:ext cx="10790959" cy="708746"/>
          </a:xfrm>
        </p:spPr>
        <p:txBody>
          <a:bodyPr>
            <a:normAutofit/>
          </a:bodyPr>
          <a:lstStyle/>
          <a:p>
            <a:pPr lvl="0"/>
            <a:r>
              <a:rPr lang="en-IN" dirty="0"/>
              <a:t>Wrap-Up – Connecting the Dots</a:t>
            </a:r>
            <a:endParaRPr lang="en-US" dirty="0"/>
          </a:p>
        </p:txBody>
      </p:sp>
      <p:sp>
        <p:nvSpPr>
          <p:cNvPr id="3" name="Content Placeholder 2">
            <a:extLst>
              <a:ext uri="{FF2B5EF4-FFF2-40B4-BE49-F238E27FC236}">
                <a16:creationId xmlns:a16="http://schemas.microsoft.com/office/drawing/2014/main" id="{FA1BD598-4921-6D64-97B5-F2127652FA12}"/>
              </a:ext>
            </a:extLst>
          </p:cNvPr>
          <p:cNvSpPr>
            <a:spLocks noGrp="1"/>
          </p:cNvSpPr>
          <p:nvPr>
            <p:ph idx="1"/>
          </p:nvPr>
        </p:nvSpPr>
        <p:spPr>
          <a:xfrm>
            <a:off x="705717" y="1639168"/>
            <a:ext cx="10790958" cy="4453658"/>
          </a:xfrm>
        </p:spPr>
        <p:txBody>
          <a:bodyPr>
            <a:normAutofit/>
          </a:bodyPr>
          <a:lstStyle/>
          <a:p>
            <a:r>
              <a:rPr lang="en-US" dirty="0"/>
              <a:t>You have seen MCP from architecture → implementation → deployment → case study.</a:t>
            </a:r>
          </a:p>
          <a:p>
            <a:r>
              <a:rPr lang="en-US" dirty="0"/>
              <a:t>MCP acts as the standard 'pipe' between LLM-based agents and real-world systems.</a:t>
            </a:r>
          </a:p>
          <a:p>
            <a:r>
              <a:rPr lang="en-US" dirty="0" err="1"/>
              <a:t>HRLeaveManager</a:t>
            </a:r>
            <a:r>
              <a:rPr lang="en-US" dirty="0"/>
              <a:t> is one example; the same pattern applies to CRM, finance, support, and more.</a:t>
            </a:r>
          </a:p>
          <a:p>
            <a:r>
              <a:rPr lang="en-US" dirty="0"/>
              <a:t>Use these patterns as starting points for your own agentic AI projects.</a:t>
            </a:r>
          </a:p>
        </p:txBody>
      </p:sp>
    </p:spTree>
    <p:extLst>
      <p:ext uri="{BB962C8B-B14F-4D97-AF65-F5344CB8AC3E}">
        <p14:creationId xmlns:p14="http://schemas.microsoft.com/office/powerpoint/2010/main" val="1882416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155864" y="2546350"/>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p>
          <a:p>
            <a:pPr algn="ctr"/>
            <a:r>
              <a:rPr lang="en-US" sz="2800" b="1" i="1" dirty="0">
                <a:latin typeface="Calibri" panose="020F0502020204030204" pitchFamily="34" charset="0"/>
              </a:rPr>
              <a:t>(Q&amp;A)</a:t>
            </a:r>
            <a:endParaRPr lang="en-IN" sz="6600" b="1" i="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7347</TotalTime>
  <Words>597</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BIA Template</vt:lpstr>
      <vt:lpstr>PowerPoint Presentation</vt:lpstr>
      <vt:lpstr>Agenda</vt:lpstr>
      <vt:lpstr>Case Study Brief – HR Leave Assistant</vt:lpstr>
      <vt:lpstr>Existing Capabilities – HRLeaveManager</vt:lpstr>
      <vt:lpstr>Possible Improvements – Examples</vt:lpstr>
      <vt:lpstr>Team Tasks – What You Need to Do</vt:lpstr>
      <vt:lpstr>Assessment Rubric</vt:lpstr>
      <vt:lpstr>Suggested Demo Structure</vt:lpstr>
      <vt:lpstr>Wrap-Up – Connecting the Dots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Simon Nadar</cp:lastModifiedBy>
  <cp:revision>2311</cp:revision>
  <dcterms:created xsi:type="dcterms:W3CDTF">2020-12-23T13:36:00Z</dcterms:created>
  <dcterms:modified xsi:type="dcterms:W3CDTF">2025-11-21T14:04:01Z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